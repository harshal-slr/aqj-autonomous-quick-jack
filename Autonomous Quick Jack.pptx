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5143500" type="screen16x9"/>
  <p:notesSz cx="6858000" cy="9144000"/>
  <p:embeddedFontLst>
    <p:embeddedFont>
      <p:font typeface="EB Garamond" pitchFamily="2" charset="0"/>
      <p:regular r:id="rId43"/>
      <p:bold r:id="rId44"/>
      <p:italic r:id="rId45"/>
      <p:boldItalic r:id="rId46"/>
    </p:embeddedFont>
    <p:embeddedFont>
      <p:font typeface="EB Garamond Medium" panose="00000600000000000000" pitchFamily="2" charset="0"/>
      <p:regular r:id="rId47"/>
      <p:bold r:id="rId48"/>
      <p:italic r:id="rId49"/>
      <p:boldItalic r:id="rId50"/>
    </p:embeddedFont>
    <p:embeddedFont>
      <p:font typeface="Roboto" panose="02000000000000000000" pitchFamily="2"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39" d="100"/>
          <a:sy n="139" d="100"/>
        </p:scale>
        <p:origin x="176" y="51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24cf50737e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24cf50737e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24cf50737e_0_2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24cf50737e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24cf50737e_4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24cf50737e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24cf50737e_4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24cf50737e_4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24cf50737e_4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24cf50737e_4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24cf50737e_4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24cf50737e_4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24cf50737e_4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24cf50737e_4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24cf50737e_4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24cf50737e_4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24cf50737e_4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24cf50737e_4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24cf50737e_4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24cf50737e_4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24cf50737e_4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24cf50737e_4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24cf50737e_4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24cf50737e_4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24cf50737e_4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24cf50737e_4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24cf50737e_4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24cf50737e_4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24cf50737e_4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24cf50737e_4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24cf50737e_4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24cf50737e_4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24cf50737e_4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24cf50737e_4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24cf50737e_0_6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24cf50737e_0_6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24cf50737e_4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24cf50737e_4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24cf50737e_4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24cf50737e_4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24cf50737e_0_6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24cf50737e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24cf50737e_0_6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24cf50737e_0_6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24cf50737e_0_6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24cf50737e_0_6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24cf50737e_0_6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24cf50737e_0_6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24cf50737e_4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24cf50737e_4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24cf50737e_4_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24cf50737e_4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24cf50737e_4_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24cf50737e_4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24cf50737e_4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24cf50737e_4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24cf50737e_4_1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24cf50737e_4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24cf50737e_4_1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24cf50737e_4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24cf50737e_4_1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24cf50737e_4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24cf50737e_4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24cf50737e_4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24cf50737e_4_1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324cf50737e_4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24cf50737e_4_1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24cf50737e_4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24d43efea0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24d43efea0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24d43efea0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324d43efea0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24cf50737e_0_6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324cf50737e_0_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24d43efea0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324d43efea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24d43efea0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324d43efea0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drive.google.com/file/d/1PmINN3zHFbfWvOe8F6ROelGsgDc2h-XV/view" TargetMode="External"/><Relationship Id="rId2" Type="http://schemas.openxmlformats.org/officeDocument/2006/relationships/notesSlide" Target="../notesSlides/notesSlide38.xml"/><Relationship Id="rId1" Type="http://schemas.openxmlformats.org/officeDocument/2006/relationships/slideLayout" Target="../slideLayouts/slideLayout3.xml"/><Relationship Id="rId6" Type="http://schemas.openxmlformats.org/officeDocument/2006/relationships/image" Target="../media/image31.jpg"/><Relationship Id="rId5" Type="http://schemas.openxmlformats.org/officeDocument/2006/relationships/hyperlink" Target="http://drive.google.com/file/d/1bow_c1ux0YFegLfHFOeCF5420UkyP08K/view" TargetMode="External"/><Relationship Id="rId4" Type="http://schemas.openxmlformats.org/officeDocument/2006/relationships/image" Target="../media/image30.jp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13"/>
          <p:cNvSpPr txBox="1"/>
          <p:nvPr/>
        </p:nvSpPr>
        <p:spPr>
          <a:xfrm>
            <a:off x="-1609721" y="598106"/>
            <a:ext cx="12260700" cy="15243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rgbClr val="000000"/>
              </a:buClr>
              <a:buSzPts val="1100"/>
              <a:buFont typeface="Arial"/>
              <a:buNone/>
            </a:pPr>
            <a:r>
              <a:rPr lang="en-GB" sz="2600" b="1">
                <a:solidFill>
                  <a:srgbClr val="000000"/>
                </a:solidFill>
                <a:latin typeface="Times New Roman"/>
                <a:ea typeface="Times New Roman"/>
                <a:cs typeface="Times New Roman"/>
                <a:sym typeface="Times New Roman"/>
              </a:rPr>
              <a:t>                                </a:t>
            </a:r>
            <a:r>
              <a:rPr lang="en-GB" sz="2600" b="1">
                <a:solidFill>
                  <a:srgbClr val="000000"/>
                </a:solidFill>
                <a:latin typeface="EB Garamond"/>
                <a:ea typeface="EB Garamond"/>
                <a:cs typeface="EB Garamond"/>
                <a:sym typeface="EB Garamond"/>
              </a:rPr>
              <a:t>AUTONOMOUS QUICK JACK</a:t>
            </a:r>
            <a:endParaRPr sz="2400" b="1">
              <a:solidFill>
                <a:srgbClr val="000000"/>
              </a:solidFill>
              <a:latin typeface="EB Garamond"/>
              <a:ea typeface="EB Garamond"/>
              <a:cs typeface="EB Garamond"/>
              <a:sym typeface="EB Garamond"/>
            </a:endParaRPr>
          </a:p>
          <a:p>
            <a:pPr marL="0" marR="0" lvl="0" indent="0" algn="l" rtl="0">
              <a:lnSpc>
                <a:spcPct val="107000"/>
              </a:lnSpc>
              <a:spcBef>
                <a:spcPts val="300"/>
              </a:spcBef>
              <a:spcAft>
                <a:spcPts val="0"/>
              </a:spcAft>
              <a:buNone/>
            </a:pPr>
            <a:endParaRPr sz="2800" b="1">
              <a:solidFill>
                <a:srgbClr val="000000"/>
              </a:solidFill>
              <a:latin typeface="Calibri"/>
              <a:ea typeface="Calibri"/>
              <a:cs typeface="Calibri"/>
              <a:sym typeface="Calibri"/>
            </a:endParaRPr>
          </a:p>
          <a:p>
            <a:pPr marL="0" marR="0" lvl="0" indent="0" algn="l" rtl="0">
              <a:spcBef>
                <a:spcPts val="800"/>
              </a:spcBef>
              <a:spcAft>
                <a:spcPts val="0"/>
              </a:spcAft>
              <a:buNone/>
            </a:pPr>
            <a:endParaRPr sz="2400">
              <a:solidFill>
                <a:srgbClr val="000000"/>
              </a:solidFill>
              <a:latin typeface="Calibri"/>
              <a:ea typeface="Calibri"/>
              <a:cs typeface="Calibri"/>
              <a:sym typeface="Calibri"/>
            </a:endParaRPr>
          </a:p>
        </p:txBody>
      </p:sp>
      <p:sp>
        <p:nvSpPr>
          <p:cNvPr id="86" name="Google Shape;86;p13"/>
          <p:cNvSpPr txBox="1"/>
          <p:nvPr/>
        </p:nvSpPr>
        <p:spPr>
          <a:xfrm>
            <a:off x="-1984869" y="228788"/>
            <a:ext cx="10677900" cy="3231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500">
                <a:solidFill>
                  <a:srgbClr val="000000"/>
                </a:solidFill>
                <a:latin typeface="EB Garamond Medium"/>
                <a:ea typeface="EB Garamond Medium"/>
                <a:cs typeface="EB Garamond Medium"/>
                <a:sym typeface="EB Garamond Medium"/>
              </a:rPr>
              <a:t>DIGITAL MODELING OF INTERACTIVE SYSTEMS AND INTERFACES</a:t>
            </a:r>
            <a:endParaRPr sz="1100">
              <a:latin typeface="EB Garamond Medium"/>
              <a:ea typeface="EB Garamond Medium"/>
              <a:cs typeface="EB Garamond Medium"/>
              <a:sym typeface="EB Garamond Medium"/>
            </a:endParaRPr>
          </a:p>
        </p:txBody>
      </p:sp>
      <p:sp>
        <p:nvSpPr>
          <p:cNvPr id="87" name="Google Shape;87;p13"/>
          <p:cNvSpPr txBox="1"/>
          <p:nvPr/>
        </p:nvSpPr>
        <p:spPr>
          <a:xfrm>
            <a:off x="133206" y="1444797"/>
            <a:ext cx="10776300" cy="1385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dirty="0">
                <a:solidFill>
                  <a:srgbClr val="000000"/>
                </a:solidFill>
                <a:latin typeface="EB Garamond Medium"/>
                <a:ea typeface="EB Garamond Medium"/>
                <a:cs typeface="EB Garamond Medium"/>
                <a:sym typeface="EB Garamond Medium"/>
              </a:rPr>
              <a:t>Group Members</a:t>
            </a:r>
            <a:r>
              <a:rPr lang="en-GB" sz="2400" dirty="0">
                <a:solidFill>
                  <a:srgbClr val="000000"/>
                </a:solidFill>
                <a:latin typeface="EB Garamond Medium"/>
                <a:ea typeface="EB Garamond Medium"/>
                <a:cs typeface="EB Garamond Medium"/>
                <a:sym typeface="EB Garamond Medium"/>
              </a:rPr>
              <a:t> </a:t>
            </a:r>
            <a:r>
              <a:rPr lang="en-GB" sz="1800" dirty="0">
                <a:solidFill>
                  <a:srgbClr val="000000"/>
                </a:solidFill>
                <a:latin typeface="EB Garamond Medium"/>
                <a:ea typeface="EB Garamond Medium"/>
                <a:cs typeface="EB Garamond Medium"/>
                <a:sym typeface="EB Garamond Medium"/>
              </a:rPr>
              <a:t>-  1. </a:t>
            </a:r>
            <a:r>
              <a:rPr lang="en-GB" sz="2000" dirty="0">
                <a:solidFill>
                  <a:srgbClr val="000000"/>
                </a:solidFill>
                <a:latin typeface="EB Garamond Medium"/>
                <a:ea typeface="EB Garamond Medium"/>
                <a:cs typeface="EB Garamond Medium"/>
                <a:sym typeface="EB Garamond Medium"/>
              </a:rPr>
              <a:t>Shwetali Vitthal </a:t>
            </a:r>
            <a:r>
              <a:rPr lang="en-GB" sz="2000" dirty="0" err="1">
                <a:solidFill>
                  <a:srgbClr val="000000"/>
                </a:solidFill>
                <a:latin typeface="EB Garamond Medium"/>
                <a:ea typeface="EB Garamond Medium"/>
                <a:cs typeface="EB Garamond Medium"/>
                <a:sym typeface="EB Garamond Medium"/>
              </a:rPr>
              <a:t>Bhuingade</a:t>
            </a:r>
            <a:r>
              <a:rPr lang="en-GB" sz="2000" dirty="0">
                <a:solidFill>
                  <a:srgbClr val="000000"/>
                </a:solidFill>
                <a:latin typeface="EB Garamond Medium"/>
                <a:ea typeface="EB Garamond Medium"/>
                <a:cs typeface="EB Garamond Medium"/>
                <a:sym typeface="EB Garamond Medium"/>
              </a:rPr>
              <a:t> </a:t>
            </a:r>
            <a:endParaRPr sz="2000" dirty="0">
              <a:latin typeface="EB Garamond Medium"/>
              <a:ea typeface="EB Garamond Medium"/>
              <a:cs typeface="EB Garamond Medium"/>
              <a:sym typeface="EB Garamond Medium"/>
            </a:endParaRPr>
          </a:p>
          <a:p>
            <a:pPr marL="0" lvl="0" indent="0" algn="l" rtl="0">
              <a:spcBef>
                <a:spcPts val="0"/>
              </a:spcBef>
              <a:spcAft>
                <a:spcPts val="0"/>
              </a:spcAft>
              <a:buSzPts val="1100"/>
              <a:buNone/>
            </a:pPr>
            <a:r>
              <a:rPr lang="en-GB" sz="2000" dirty="0">
                <a:solidFill>
                  <a:srgbClr val="000000"/>
                </a:solidFill>
                <a:latin typeface="EB Garamond Medium"/>
                <a:ea typeface="EB Garamond Medium"/>
                <a:cs typeface="EB Garamond Medium"/>
                <a:sym typeface="EB Garamond Medium"/>
              </a:rPr>
              <a:t>                                   2. Harshal Rajesh Kokitkar </a:t>
            </a:r>
            <a:endParaRPr sz="2000" dirty="0">
              <a:solidFill>
                <a:srgbClr val="000000"/>
              </a:solidFill>
              <a:latin typeface="EB Garamond Medium"/>
              <a:ea typeface="EB Garamond Medium"/>
              <a:cs typeface="EB Garamond Medium"/>
              <a:sym typeface="EB Garamond Medium"/>
            </a:endParaRPr>
          </a:p>
          <a:p>
            <a:pPr marL="0" lvl="0" indent="0" algn="l" rtl="0">
              <a:spcBef>
                <a:spcPts val="0"/>
              </a:spcBef>
              <a:spcAft>
                <a:spcPts val="0"/>
              </a:spcAft>
              <a:buClr>
                <a:srgbClr val="000000"/>
              </a:buClr>
              <a:buSzPts val="1100"/>
              <a:buFont typeface="Arial"/>
              <a:buNone/>
            </a:pPr>
            <a:endParaRPr sz="2000" dirty="0">
              <a:solidFill>
                <a:srgbClr val="000000"/>
              </a:solidFill>
              <a:latin typeface="Times New Roman"/>
              <a:ea typeface="Times New Roman"/>
              <a:cs typeface="Times New Roman"/>
              <a:sym typeface="Times New Roman"/>
            </a:endParaRPr>
          </a:p>
          <a:p>
            <a:pPr marL="0" marR="0" lvl="0" indent="0" algn="l" rtl="0">
              <a:spcBef>
                <a:spcPts val="0"/>
              </a:spcBef>
              <a:spcAft>
                <a:spcPts val="0"/>
              </a:spcAft>
              <a:buNone/>
            </a:pPr>
            <a:endParaRPr sz="2000" dirty="0">
              <a:solidFill>
                <a:srgbClr val="000000"/>
              </a:solidFill>
              <a:latin typeface="Times New Roman"/>
              <a:ea typeface="Times New Roman"/>
              <a:cs typeface="Times New Roman"/>
              <a:sym typeface="Times New Roman"/>
            </a:endParaRPr>
          </a:p>
        </p:txBody>
      </p:sp>
      <p:sp>
        <p:nvSpPr>
          <p:cNvPr id="88" name="Google Shape;88;p13"/>
          <p:cNvSpPr txBox="1"/>
          <p:nvPr/>
        </p:nvSpPr>
        <p:spPr>
          <a:xfrm>
            <a:off x="454325" y="2642351"/>
            <a:ext cx="7963800" cy="1708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300" dirty="0">
                <a:solidFill>
                  <a:srgbClr val="000000"/>
                </a:solidFill>
                <a:latin typeface="EB Garamond Medium"/>
                <a:ea typeface="EB Garamond Medium"/>
                <a:cs typeface="EB Garamond Medium"/>
                <a:sym typeface="EB Garamond Medium"/>
              </a:rPr>
              <a:t>University Of Naples Federico II.</a:t>
            </a:r>
            <a:endParaRPr sz="2300" dirty="0">
              <a:latin typeface="EB Garamond Medium"/>
              <a:ea typeface="EB Garamond Medium"/>
              <a:cs typeface="EB Garamond Medium"/>
              <a:sym typeface="EB Garamond Medium"/>
            </a:endParaRPr>
          </a:p>
          <a:p>
            <a:pPr marL="0" marR="0" lvl="0" indent="0" algn="ctr" rtl="0">
              <a:spcBef>
                <a:spcPts val="0"/>
              </a:spcBef>
              <a:spcAft>
                <a:spcPts val="0"/>
              </a:spcAft>
              <a:buNone/>
            </a:pPr>
            <a:r>
              <a:rPr lang="en-GB" sz="2300" dirty="0">
                <a:solidFill>
                  <a:srgbClr val="000000"/>
                </a:solidFill>
                <a:latin typeface="EB Garamond Medium"/>
                <a:ea typeface="EB Garamond Medium"/>
                <a:cs typeface="EB Garamond Medium"/>
                <a:sym typeface="EB Garamond Medium"/>
              </a:rPr>
              <a:t>      Master's Degree In Autonomous Vehicle Engineering</a:t>
            </a:r>
            <a:endParaRPr sz="2300" dirty="0">
              <a:latin typeface="EB Garamond Medium"/>
              <a:ea typeface="EB Garamond Medium"/>
              <a:cs typeface="EB Garamond Medium"/>
              <a:sym typeface="EB Garamond Medium"/>
            </a:endParaRPr>
          </a:p>
          <a:p>
            <a:pPr marL="0" marR="0" lvl="0" indent="0" algn="ctr" rtl="0">
              <a:spcBef>
                <a:spcPts val="0"/>
              </a:spcBef>
              <a:spcAft>
                <a:spcPts val="0"/>
              </a:spcAft>
              <a:buNone/>
            </a:pPr>
            <a:r>
              <a:rPr lang="en-GB" sz="2300" dirty="0">
                <a:solidFill>
                  <a:srgbClr val="000000"/>
                </a:solidFill>
                <a:latin typeface="EB Garamond Medium"/>
                <a:ea typeface="EB Garamond Medium"/>
                <a:cs typeface="EB Garamond Medium"/>
                <a:sym typeface="EB Garamond Medium"/>
              </a:rPr>
              <a:t>    Department Of Industrial Engineering</a:t>
            </a:r>
            <a:endParaRPr sz="2300" dirty="0">
              <a:latin typeface="EB Garamond Medium"/>
              <a:ea typeface="EB Garamond Medium"/>
              <a:cs typeface="EB Garamond Medium"/>
              <a:sym typeface="EB Garamond Medium"/>
            </a:endParaRPr>
          </a:p>
          <a:p>
            <a:pPr marL="0" marR="0" lvl="0" indent="0" algn="ctr" rtl="0">
              <a:spcBef>
                <a:spcPts val="0"/>
              </a:spcBef>
              <a:spcAft>
                <a:spcPts val="0"/>
              </a:spcAft>
              <a:buNone/>
            </a:pPr>
            <a:br>
              <a:rPr lang="en-GB" sz="1800" i="0" dirty="0">
                <a:solidFill>
                  <a:srgbClr val="000000"/>
                </a:solidFill>
                <a:latin typeface="Times New Roman"/>
                <a:ea typeface="Times New Roman"/>
                <a:cs typeface="Times New Roman"/>
                <a:sym typeface="Times New Roman"/>
              </a:rPr>
            </a:br>
            <a:endParaRPr sz="1800" i="0" dirty="0">
              <a:solidFill>
                <a:srgbClr val="000000"/>
              </a:solidFill>
              <a:latin typeface="Times New Roman"/>
              <a:ea typeface="Times New Roman"/>
              <a:cs typeface="Times New Roman"/>
              <a:sym typeface="Times New Roman"/>
            </a:endParaRPr>
          </a:p>
        </p:txBody>
      </p:sp>
      <p:sp>
        <p:nvSpPr>
          <p:cNvPr id="89" name="Google Shape;89;p13"/>
          <p:cNvSpPr txBox="1"/>
          <p:nvPr/>
        </p:nvSpPr>
        <p:spPr>
          <a:xfrm>
            <a:off x="4076094" y="4212252"/>
            <a:ext cx="68334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a:solidFill>
                  <a:srgbClr val="000000"/>
                </a:solidFill>
                <a:latin typeface="EB Garamond Medium"/>
                <a:ea typeface="EB Garamond Medium"/>
                <a:cs typeface="EB Garamond Medium"/>
                <a:sym typeface="EB Garamond Medium"/>
              </a:rPr>
              <a:t>Project Guide’s: Prof. </a:t>
            </a:r>
            <a:r>
              <a:rPr lang="en-GB" sz="2000">
                <a:latin typeface="EB Garamond Medium"/>
                <a:ea typeface="EB Garamond Medium"/>
                <a:cs typeface="EB Garamond Medium"/>
                <a:sym typeface="EB Garamond Medium"/>
              </a:rPr>
              <a:t>P</a:t>
            </a:r>
            <a:r>
              <a:rPr lang="en-GB" sz="2000">
                <a:solidFill>
                  <a:srgbClr val="000000"/>
                </a:solidFill>
                <a:latin typeface="EB Garamond Medium"/>
                <a:ea typeface="EB Garamond Medium"/>
                <a:cs typeface="EB Garamond Medium"/>
                <a:sym typeface="EB Garamond Medium"/>
              </a:rPr>
              <a:t>atalano Stanislao.</a:t>
            </a:r>
            <a:endParaRPr>
              <a:latin typeface="EB Garamond Medium"/>
              <a:ea typeface="EB Garamond Medium"/>
              <a:cs typeface="EB Garamond Medium"/>
              <a:sym typeface="EB Garamond Medium"/>
            </a:endParaRPr>
          </a:p>
          <a:p>
            <a:pPr marL="0" marR="0" lvl="0" indent="0" algn="l" rtl="0">
              <a:spcBef>
                <a:spcPts val="0"/>
              </a:spcBef>
              <a:spcAft>
                <a:spcPts val="0"/>
              </a:spcAft>
              <a:buNone/>
            </a:pPr>
            <a:r>
              <a:rPr lang="en-GB" sz="2000">
                <a:solidFill>
                  <a:srgbClr val="000000"/>
                </a:solidFill>
                <a:latin typeface="EB Garamond Medium"/>
                <a:ea typeface="EB Garamond Medium"/>
                <a:cs typeface="EB Garamond Medium"/>
                <a:sym typeface="EB Garamond Medium"/>
              </a:rPr>
              <a:t>                              </a:t>
            </a:r>
            <a:r>
              <a:rPr lang="en-GB" sz="2000">
                <a:latin typeface="EB Garamond Medium"/>
                <a:ea typeface="EB Garamond Medium"/>
                <a:cs typeface="EB Garamond Medium"/>
                <a:sym typeface="EB Garamond Medium"/>
              </a:rPr>
              <a:t> </a:t>
            </a:r>
            <a:r>
              <a:rPr lang="en-GB" sz="2000">
                <a:solidFill>
                  <a:srgbClr val="000000"/>
                </a:solidFill>
                <a:latin typeface="EB Garamond Medium"/>
                <a:ea typeface="EB Garamond Medium"/>
                <a:cs typeface="EB Garamond Medium"/>
                <a:sym typeface="EB Garamond Medium"/>
              </a:rPr>
              <a:t>Prof. </a:t>
            </a:r>
            <a:r>
              <a:rPr lang="en-GB" sz="2000">
                <a:latin typeface="EB Garamond Medium"/>
                <a:ea typeface="EB Garamond Medium"/>
                <a:cs typeface="EB Garamond Medium"/>
                <a:sym typeface="EB Garamond Medium"/>
              </a:rPr>
              <a:t>V</a:t>
            </a:r>
            <a:r>
              <a:rPr lang="en-GB" sz="2000">
                <a:solidFill>
                  <a:srgbClr val="000000"/>
                </a:solidFill>
                <a:latin typeface="EB Garamond Medium"/>
                <a:ea typeface="EB Garamond Medium"/>
                <a:cs typeface="EB Garamond Medium"/>
                <a:sym typeface="EB Garamond Medium"/>
              </a:rPr>
              <a:t>itolo Ferdinando.</a:t>
            </a:r>
            <a:endParaRPr sz="2000">
              <a:solidFill>
                <a:srgbClr val="000000"/>
              </a:solidFill>
              <a:latin typeface="EB Garamond Medium"/>
              <a:ea typeface="EB Garamond Medium"/>
              <a:cs typeface="EB Garamond Medium"/>
              <a:sym typeface="EB Garamond Medium"/>
            </a:endParaRPr>
          </a:p>
        </p:txBody>
      </p:sp>
      <p:pic>
        <p:nvPicPr>
          <p:cNvPr id="90" name="Google Shape;90;p13"/>
          <p:cNvPicPr preferRelativeResize="0"/>
          <p:nvPr/>
        </p:nvPicPr>
        <p:blipFill>
          <a:blip r:embed="rId3">
            <a:alphaModFix/>
          </a:blip>
          <a:stretch>
            <a:fillRect/>
          </a:stretch>
        </p:blipFill>
        <p:spPr>
          <a:xfrm>
            <a:off x="8087000" y="0"/>
            <a:ext cx="1057000" cy="1057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p>
            <a:pPr marL="3456305" lvl="0" indent="-270510" algn="l" rtl="0">
              <a:lnSpc>
                <a:spcPct val="115000"/>
              </a:lnSpc>
              <a:spcBef>
                <a:spcPts val="0"/>
              </a:spcBef>
              <a:spcAft>
                <a:spcPts val="0"/>
              </a:spcAft>
              <a:buNone/>
            </a:pPr>
            <a:r>
              <a:rPr lang="en-GB" sz="2400">
                <a:solidFill>
                  <a:srgbClr val="000000"/>
                </a:solidFill>
                <a:latin typeface="EB Garamond"/>
                <a:ea typeface="EB Garamond"/>
                <a:cs typeface="EB Garamond"/>
                <a:sym typeface="EB Garamond"/>
              </a:rPr>
              <a:t>Introduction</a:t>
            </a:r>
            <a:endParaRPr>
              <a:latin typeface="EB Garamond"/>
              <a:ea typeface="EB Garamond"/>
              <a:cs typeface="EB Garamond"/>
              <a:sym typeface="EB Garamond"/>
            </a:endParaRPr>
          </a:p>
        </p:txBody>
      </p:sp>
      <p:sp>
        <p:nvSpPr>
          <p:cNvPr id="96" name="Google Shape;96;p14"/>
          <p:cNvSpPr txBox="1">
            <a:spLocks noGrp="1"/>
          </p:cNvSpPr>
          <p:nvPr>
            <p:ph type="body" idx="1"/>
          </p:nvPr>
        </p:nvSpPr>
        <p:spPr>
          <a:xfrm>
            <a:off x="387900" y="1094000"/>
            <a:ext cx="8520600" cy="3339000"/>
          </a:xfrm>
          <a:prstGeom prst="rect">
            <a:avLst/>
          </a:prstGeom>
        </p:spPr>
        <p:txBody>
          <a:bodyPr spcFirstLastPara="1" wrap="square" lIns="91425" tIns="91425" rIns="91425" bIns="91425" anchor="t" anchorCtr="0">
            <a:normAutofit/>
          </a:bodyPr>
          <a:lstStyle/>
          <a:p>
            <a:pPr marL="0" lvl="0" indent="0" algn="just" rtl="0">
              <a:lnSpc>
                <a:spcPct val="150000"/>
              </a:lnSpc>
              <a:spcBef>
                <a:spcPts val="600"/>
              </a:spcBef>
              <a:spcAft>
                <a:spcPts val="0"/>
              </a:spcAft>
              <a:buNone/>
            </a:pPr>
            <a:endParaRPr sz="1400">
              <a:solidFill>
                <a:srgbClr val="000000"/>
              </a:solidFill>
              <a:latin typeface="Times New Roman"/>
              <a:ea typeface="Times New Roman"/>
              <a:cs typeface="Times New Roman"/>
              <a:sym typeface="Times New Roman"/>
            </a:endParaRPr>
          </a:p>
          <a:p>
            <a:pPr marL="0" lvl="0" indent="0" algn="just" rtl="0">
              <a:spcBef>
                <a:spcPts val="600"/>
              </a:spcBef>
              <a:spcAft>
                <a:spcPts val="0"/>
              </a:spcAft>
              <a:buNone/>
            </a:pPr>
            <a:r>
              <a:rPr lang="en-GB" sz="1400">
                <a:solidFill>
                  <a:srgbClr val="000000"/>
                </a:solidFill>
                <a:latin typeface="EB Garamond"/>
                <a:ea typeface="EB Garamond"/>
                <a:cs typeface="EB Garamond"/>
                <a:sym typeface="EB Garamond"/>
              </a:rPr>
              <a:t>The Autonomous Quick Jack is a type of </a:t>
            </a:r>
            <a:r>
              <a:rPr lang="en-GB" sz="1400">
                <a:solidFill>
                  <a:srgbClr val="1F1F1F"/>
                </a:solidFill>
                <a:highlight>
                  <a:srgbClr val="FFFFFF"/>
                </a:highlight>
                <a:latin typeface="EB Garamond"/>
                <a:ea typeface="EB Garamond"/>
                <a:cs typeface="EB Garamond"/>
                <a:sym typeface="EB Garamond"/>
              </a:rPr>
              <a:t>self-operating</a:t>
            </a:r>
            <a:r>
              <a:rPr lang="en-GB" sz="1400">
                <a:solidFill>
                  <a:srgbClr val="000000"/>
                </a:solidFill>
                <a:latin typeface="EB Garamond"/>
                <a:ea typeface="EB Garamond"/>
                <a:cs typeface="EB Garamond"/>
                <a:sym typeface="EB Garamond"/>
              </a:rPr>
              <a:t>, movable lifting system created for vehicle maintenance, repairs, and other tasks that require lifting a vehicle more efficiently and </a:t>
            </a:r>
            <a:r>
              <a:rPr lang="en-GB" sz="1400">
                <a:solidFill>
                  <a:srgbClr val="1F1F1F"/>
                </a:solidFill>
                <a:highlight>
                  <a:srgbClr val="FFFFFF"/>
                </a:highlight>
                <a:latin typeface="EB Garamond"/>
                <a:ea typeface="EB Garamond"/>
                <a:cs typeface="EB Garamond"/>
                <a:sym typeface="EB Garamond"/>
              </a:rPr>
              <a:t>user-oriented</a:t>
            </a:r>
            <a:r>
              <a:rPr lang="en-GB" sz="1400">
                <a:solidFill>
                  <a:srgbClr val="000000"/>
                </a:solidFill>
                <a:latin typeface="EB Garamond"/>
                <a:ea typeface="EB Garamond"/>
                <a:cs typeface="EB Garamond"/>
                <a:sym typeface="EB Garamond"/>
              </a:rPr>
              <a:t>. It </a:t>
            </a:r>
            <a:r>
              <a:rPr lang="en-GB" sz="1400">
                <a:solidFill>
                  <a:srgbClr val="1F1F1F"/>
                </a:solidFill>
                <a:highlight>
                  <a:srgbClr val="FFFFFF"/>
                </a:highlight>
                <a:latin typeface="EB Garamond"/>
                <a:ea typeface="EB Garamond"/>
                <a:cs typeface="EB Garamond"/>
                <a:sym typeface="EB Garamond"/>
              </a:rPr>
              <a:t>includes </a:t>
            </a:r>
            <a:r>
              <a:rPr lang="en-GB" sz="1400">
                <a:solidFill>
                  <a:srgbClr val="000000"/>
                </a:solidFill>
                <a:latin typeface="EB Garamond"/>
                <a:ea typeface="EB Garamond"/>
                <a:cs typeface="EB Garamond"/>
                <a:sym typeface="EB Garamond"/>
              </a:rPr>
              <a:t>autonomous or semi-autonomous technology, which can lift and lower a vehicle with minimal human involvement, because it relies on electric or hydraulic systems.</a:t>
            </a:r>
            <a:endParaRPr sz="1400">
              <a:solidFill>
                <a:srgbClr val="000000"/>
              </a:solidFill>
              <a:latin typeface="EB Garamond"/>
              <a:ea typeface="EB Garamond"/>
              <a:cs typeface="EB Garamond"/>
              <a:sym typeface="EB Garamond"/>
            </a:endParaRPr>
          </a:p>
          <a:p>
            <a:pPr marL="0" lvl="0" indent="0" algn="just" rtl="0">
              <a:spcBef>
                <a:spcPts val="0"/>
              </a:spcBef>
              <a:spcAft>
                <a:spcPts val="0"/>
              </a:spcAft>
              <a:buNone/>
            </a:pPr>
            <a:endParaRPr sz="1400">
              <a:solidFill>
                <a:srgbClr val="000000"/>
              </a:solidFill>
              <a:latin typeface="EB Garamond"/>
              <a:ea typeface="EB Garamond"/>
              <a:cs typeface="EB Garamond"/>
              <a:sym typeface="EB Garamond"/>
            </a:endParaRPr>
          </a:p>
          <a:p>
            <a:pPr marL="0" lvl="0" indent="0" algn="just" rtl="0">
              <a:spcBef>
                <a:spcPts val="0"/>
              </a:spcBef>
              <a:spcAft>
                <a:spcPts val="0"/>
              </a:spcAft>
              <a:buNone/>
            </a:pPr>
            <a:r>
              <a:rPr lang="en-GB" sz="1400">
                <a:solidFill>
                  <a:srgbClr val="000000"/>
                </a:solidFill>
                <a:latin typeface="EB Garamond"/>
                <a:ea typeface="EB Garamond"/>
                <a:cs typeface="EB Garamond"/>
                <a:sym typeface="EB Garamond"/>
              </a:rPr>
              <a:t>Tire punctures are a common inconvenience that can disrupt daily routines. Traditional jack stands can be time-consuming to set up, especially in emergency situations. To address this issue, we propose the development of an Autonomous Quick Jack (AQJ). This innovative device aims to streamline the tire-changing process by autonomously positioning itself under the vehicle according to the selected wheel and lifting it with minimal human intervention.</a:t>
            </a:r>
            <a:endParaRPr sz="1400">
              <a:solidFill>
                <a:srgbClr val="000000"/>
              </a:solidFill>
              <a:latin typeface="EB Garamond"/>
              <a:ea typeface="EB Garamond"/>
              <a:cs typeface="EB Garamond"/>
              <a:sym typeface="EB Garamond"/>
            </a:endParaRPr>
          </a:p>
          <a:p>
            <a:pPr marL="0" lvl="0" indent="0" algn="just" rtl="0">
              <a:spcBef>
                <a:spcPts val="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just" rtl="0">
              <a:lnSpc>
                <a:spcPct val="150000"/>
              </a:lnSpc>
              <a:spcBef>
                <a:spcPts val="1400"/>
              </a:spcBef>
              <a:spcAft>
                <a:spcPts val="0"/>
              </a:spcAft>
              <a:buNone/>
            </a:pPr>
            <a:r>
              <a:rPr lang="en-GB" sz="2650" b="1">
                <a:solidFill>
                  <a:srgbClr val="000000"/>
                </a:solidFill>
                <a:latin typeface="Times New Roman"/>
                <a:ea typeface="Times New Roman"/>
                <a:cs typeface="Times New Roman"/>
                <a:sym typeface="Times New Roman"/>
              </a:rPr>
              <a:t>Project Objectives</a:t>
            </a:r>
            <a:endParaRPr sz="265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102" name="Google Shape;102;p15"/>
          <p:cNvSpPr txBox="1">
            <a:spLocks noGrp="1"/>
          </p:cNvSpPr>
          <p:nvPr>
            <p:ph type="body" idx="1"/>
          </p:nvPr>
        </p:nvSpPr>
        <p:spPr>
          <a:xfrm>
            <a:off x="311700" y="1017800"/>
            <a:ext cx="8520600" cy="3339000"/>
          </a:xfrm>
          <a:prstGeom prst="rect">
            <a:avLst/>
          </a:prstGeom>
        </p:spPr>
        <p:txBody>
          <a:bodyPr spcFirstLastPara="1" wrap="square" lIns="91425" tIns="91425" rIns="91425" bIns="91425" anchor="t" anchorCtr="0">
            <a:noAutofit/>
          </a:bodyPr>
          <a:lstStyle/>
          <a:p>
            <a:pPr marL="0" lvl="0" indent="0" algn="just"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The primary objectives of this project are:</a:t>
            </a:r>
            <a:endParaRPr sz="1400">
              <a:solidFill>
                <a:srgbClr val="000000"/>
              </a:solidFill>
              <a:latin typeface="EB Garamond"/>
              <a:ea typeface="EB Garamond"/>
              <a:cs typeface="EB Garamond"/>
              <a:sym typeface="EB Garamond"/>
            </a:endParaRPr>
          </a:p>
          <a:p>
            <a:pPr marL="685800" lvl="0" indent="-228600" algn="just" rtl="0">
              <a:lnSpc>
                <a:spcPct val="150000"/>
              </a:lnSpc>
              <a:spcBef>
                <a:spcPts val="1200"/>
              </a:spcBef>
              <a:spcAft>
                <a:spcPts val="0"/>
              </a:spcAft>
              <a:buNone/>
            </a:pPr>
            <a:r>
              <a:rPr lang="en-GB" sz="1400">
                <a:solidFill>
                  <a:srgbClr val="000000"/>
                </a:solidFill>
                <a:latin typeface="EB Garamond"/>
                <a:ea typeface="EB Garamond"/>
                <a:cs typeface="EB Garamond"/>
                <a:sym typeface="EB Garamond"/>
              </a:rPr>
              <a:t>●  	Autonomous Positioning: Develop a system that accurately identifies the input given by the user and positions the AQJ beneath it.</a:t>
            </a:r>
            <a:endParaRPr sz="1400">
              <a:solidFill>
                <a:srgbClr val="000000"/>
              </a:solidFill>
              <a:latin typeface="EB Garamond"/>
              <a:ea typeface="EB Garamond"/>
              <a:cs typeface="EB Garamond"/>
              <a:sym typeface="EB Garamond"/>
            </a:endParaRPr>
          </a:p>
          <a:p>
            <a:pPr marL="685800" lvl="0" indent="-228600" algn="just" rtl="0">
              <a:lnSpc>
                <a:spcPct val="150000"/>
              </a:lnSpc>
              <a:spcBef>
                <a:spcPts val="1200"/>
              </a:spcBef>
              <a:spcAft>
                <a:spcPts val="0"/>
              </a:spcAft>
              <a:buNone/>
            </a:pPr>
            <a:r>
              <a:rPr lang="en-GB" sz="1400">
                <a:solidFill>
                  <a:srgbClr val="000000"/>
                </a:solidFill>
                <a:latin typeface="EB Garamond"/>
                <a:ea typeface="EB Garamond"/>
                <a:cs typeface="EB Garamond"/>
                <a:sym typeface="EB Garamond"/>
              </a:rPr>
              <a:t>●  	Precise Lifting: Implement a mechanism to safely and efficiently lift the vehicle to the desired height given by the user.</a:t>
            </a:r>
            <a:endParaRPr sz="1400">
              <a:solidFill>
                <a:srgbClr val="000000"/>
              </a:solidFill>
              <a:latin typeface="EB Garamond"/>
              <a:ea typeface="EB Garamond"/>
              <a:cs typeface="EB Garamond"/>
              <a:sym typeface="EB Garamond"/>
            </a:endParaRPr>
          </a:p>
          <a:p>
            <a:pPr marL="685800" lvl="0" indent="-228600" algn="just" rtl="0">
              <a:lnSpc>
                <a:spcPct val="150000"/>
              </a:lnSpc>
              <a:spcBef>
                <a:spcPts val="1200"/>
              </a:spcBef>
              <a:spcAft>
                <a:spcPts val="0"/>
              </a:spcAft>
              <a:buNone/>
            </a:pPr>
            <a:r>
              <a:rPr lang="en-GB" sz="1400">
                <a:solidFill>
                  <a:srgbClr val="000000"/>
                </a:solidFill>
                <a:latin typeface="EB Garamond"/>
                <a:ea typeface="EB Garamond"/>
                <a:cs typeface="EB Garamond"/>
                <a:sym typeface="EB Garamond"/>
              </a:rPr>
              <a:t>●  	User-Friendly Interface: Design an intuitive user interface to control the AQJ and monitor its operations.</a:t>
            </a:r>
            <a:endParaRPr sz="1400">
              <a:solidFill>
                <a:srgbClr val="000000"/>
              </a:solidFill>
              <a:latin typeface="EB Garamond"/>
              <a:ea typeface="EB Garamond"/>
              <a:cs typeface="EB Garamond"/>
              <a:sym typeface="EB Garamond"/>
            </a:endParaRPr>
          </a:p>
          <a:p>
            <a:pPr marL="685800" lvl="0" indent="-228600" algn="just" rtl="0">
              <a:lnSpc>
                <a:spcPct val="150000"/>
              </a:lnSpc>
              <a:spcBef>
                <a:spcPts val="1200"/>
              </a:spcBef>
              <a:spcAft>
                <a:spcPts val="0"/>
              </a:spcAft>
              <a:buNone/>
            </a:pPr>
            <a:r>
              <a:rPr lang="en-GB" sz="1400">
                <a:solidFill>
                  <a:srgbClr val="000000"/>
                </a:solidFill>
                <a:latin typeface="EB Garamond"/>
                <a:ea typeface="EB Garamond"/>
                <a:cs typeface="EB Garamond"/>
                <a:sym typeface="EB Garamond"/>
              </a:rPr>
              <a:t>●  	Robust and Reliable: Ensure the AQJ is durable and can withstand various environmental conditions and usage scenarios.</a:t>
            </a:r>
            <a:endParaRPr sz="1400">
              <a:solidFill>
                <a:srgbClr val="000000"/>
              </a:solidFill>
              <a:latin typeface="EB Garamond"/>
              <a:ea typeface="EB Garamond"/>
              <a:cs typeface="EB Garamond"/>
              <a:sym typeface="EB Garamond"/>
            </a:endParaRPr>
          </a:p>
          <a:p>
            <a:pPr marL="0" lvl="0" indent="0" algn="l" rtl="0">
              <a:spcBef>
                <a:spcPts val="1200"/>
              </a:spcBef>
              <a:spcAft>
                <a:spcPts val="1200"/>
              </a:spcAft>
              <a:buNone/>
            </a:pPr>
            <a:endParaRPr sz="1400">
              <a:latin typeface="EB Garamond"/>
              <a:ea typeface="EB Garamond"/>
              <a:cs typeface="EB Garamond"/>
              <a:sym typeface="EB Garamon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just" rtl="0">
              <a:lnSpc>
                <a:spcPct val="150000"/>
              </a:lnSpc>
              <a:spcBef>
                <a:spcPts val="1400"/>
              </a:spcBef>
              <a:spcAft>
                <a:spcPts val="0"/>
              </a:spcAft>
              <a:buNone/>
            </a:pPr>
            <a:r>
              <a:rPr lang="en-GB" sz="2400" b="1">
                <a:solidFill>
                  <a:srgbClr val="000000"/>
                </a:solidFill>
                <a:latin typeface="EB Garamond"/>
                <a:ea typeface="EB Garamond"/>
                <a:cs typeface="EB Garamond"/>
                <a:sym typeface="EB Garamond"/>
              </a:rPr>
              <a:t>State of the Art</a:t>
            </a:r>
            <a:endParaRPr sz="2400" b="1">
              <a:solidFill>
                <a:srgbClr val="000000"/>
              </a:solidFill>
              <a:latin typeface="EB Garamond"/>
              <a:ea typeface="EB Garamond"/>
              <a:cs typeface="EB Garamond"/>
              <a:sym typeface="EB Garamond"/>
            </a:endParaRPr>
          </a:p>
          <a:p>
            <a:pPr marL="0" lvl="0" indent="0" algn="just" rtl="0">
              <a:lnSpc>
                <a:spcPct val="150000"/>
              </a:lnSpc>
              <a:spcBef>
                <a:spcPts val="1200"/>
              </a:spcBef>
              <a:spcAft>
                <a:spcPts val="600"/>
              </a:spcAft>
              <a:buNone/>
            </a:pPr>
            <a:endParaRPr sz="1600">
              <a:solidFill>
                <a:srgbClr val="000000"/>
              </a:solidFill>
              <a:latin typeface="Times New Roman"/>
              <a:ea typeface="Times New Roman"/>
              <a:cs typeface="Times New Roman"/>
              <a:sym typeface="Times New Roman"/>
            </a:endParaRPr>
          </a:p>
        </p:txBody>
      </p:sp>
      <p:sp>
        <p:nvSpPr>
          <p:cNvPr id="108" name="Google Shape;108;p16"/>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457200" lvl="0" indent="-317500" algn="just" rtl="0">
              <a:lnSpc>
                <a:spcPct val="150000"/>
              </a:lnSpc>
              <a:spcBef>
                <a:spcPts val="600"/>
              </a:spcBef>
              <a:spcAft>
                <a:spcPts val="0"/>
              </a:spcAft>
              <a:buClr>
                <a:srgbClr val="000000"/>
              </a:buClr>
              <a:buSzPts val="1400"/>
              <a:buFont typeface="EB Garamond"/>
              <a:buChar char="●"/>
            </a:pPr>
            <a:r>
              <a:rPr lang="en-GB" sz="1400">
                <a:solidFill>
                  <a:srgbClr val="000000"/>
                </a:solidFill>
                <a:highlight>
                  <a:srgbClr val="FFFFFF"/>
                </a:highlight>
                <a:latin typeface="EB Garamond"/>
                <a:ea typeface="EB Garamond"/>
                <a:cs typeface="EB Garamond"/>
                <a:sym typeface="EB Garamond"/>
              </a:rPr>
              <a:t>Analytic Approach Model of an Automated Car Jack</a:t>
            </a:r>
            <a:endParaRPr sz="1400">
              <a:solidFill>
                <a:srgbClr val="000000"/>
              </a:solidFill>
              <a:highlight>
                <a:srgbClr val="FFFFFF"/>
              </a:highlight>
              <a:latin typeface="EB Garamond"/>
              <a:ea typeface="EB Garamond"/>
              <a:cs typeface="EB Garamond"/>
              <a:sym typeface="EB Garamond"/>
            </a:endParaRPr>
          </a:p>
          <a:p>
            <a:pPr marL="457200" lvl="0" indent="-317500" algn="just" rtl="0">
              <a:lnSpc>
                <a:spcPct val="150000"/>
              </a:lnSpc>
              <a:spcBef>
                <a:spcPts val="0"/>
              </a:spcBef>
              <a:spcAft>
                <a:spcPts val="0"/>
              </a:spcAft>
              <a:buClr>
                <a:srgbClr val="000000"/>
              </a:buClr>
              <a:buSzPts val="1400"/>
              <a:buFont typeface="EB Garamond"/>
              <a:buChar char="●"/>
            </a:pPr>
            <a:r>
              <a:rPr lang="en-GB" sz="1400">
                <a:solidFill>
                  <a:srgbClr val="000000"/>
                </a:solidFill>
                <a:highlight>
                  <a:srgbClr val="FFFFFF"/>
                </a:highlight>
                <a:latin typeface="EB Garamond"/>
                <a:ea typeface="EB Garamond"/>
                <a:cs typeface="EB Garamond"/>
                <a:sym typeface="EB Garamond"/>
              </a:rPr>
              <a:t>A method to Improve the Stability of Scissor Lifting Platform by using Finite Element Analysis</a:t>
            </a:r>
            <a:endParaRPr sz="1400">
              <a:solidFill>
                <a:srgbClr val="000000"/>
              </a:solidFill>
              <a:highlight>
                <a:srgbClr val="FFFFFF"/>
              </a:highlight>
              <a:latin typeface="EB Garamond"/>
              <a:ea typeface="EB Garamond"/>
              <a:cs typeface="EB Garamond"/>
              <a:sym typeface="EB Garamond"/>
            </a:endParaRPr>
          </a:p>
          <a:p>
            <a:pPr marL="457200" lvl="0" indent="-317500" algn="just" rtl="0">
              <a:lnSpc>
                <a:spcPct val="150000"/>
              </a:lnSpc>
              <a:spcBef>
                <a:spcPts val="0"/>
              </a:spcBef>
              <a:spcAft>
                <a:spcPts val="0"/>
              </a:spcAft>
              <a:buClr>
                <a:srgbClr val="000000"/>
              </a:buClr>
              <a:buSzPts val="1400"/>
              <a:buFont typeface="EB Garamond"/>
              <a:buChar char="●"/>
            </a:pPr>
            <a:r>
              <a:rPr lang="en-GB" sz="1400">
                <a:solidFill>
                  <a:srgbClr val="000000"/>
                </a:solidFill>
                <a:highlight>
                  <a:srgbClr val="FFFFFF"/>
                </a:highlight>
                <a:latin typeface="EB Garamond"/>
                <a:ea typeface="EB Garamond"/>
                <a:cs typeface="EB Garamond"/>
                <a:sym typeface="EB Garamond"/>
              </a:rPr>
              <a:t>Design, Manufacturing &amp; Analysis of Hydraulic Scissor Lift</a:t>
            </a:r>
            <a:endParaRPr sz="1400">
              <a:solidFill>
                <a:srgbClr val="000000"/>
              </a:solidFill>
              <a:highlight>
                <a:srgbClr val="FFFFFF"/>
              </a:highlight>
              <a:latin typeface="EB Garamond"/>
              <a:ea typeface="EB Garamond"/>
              <a:cs typeface="EB Garamond"/>
              <a:sym typeface="EB Garamond"/>
            </a:endParaRPr>
          </a:p>
          <a:p>
            <a:pPr marL="0" lvl="0" indent="0" algn="just" rtl="0">
              <a:lnSpc>
                <a:spcPct val="150000"/>
              </a:lnSpc>
              <a:spcBef>
                <a:spcPts val="600"/>
              </a:spcBef>
              <a:spcAft>
                <a:spcPts val="0"/>
              </a:spcAft>
              <a:buNone/>
            </a:pPr>
            <a:endParaRPr sz="1200">
              <a:solidFill>
                <a:srgbClr val="000000"/>
              </a:solidFill>
              <a:highlight>
                <a:srgbClr val="FFFFFF"/>
              </a:highlight>
              <a:latin typeface="Times New Roman"/>
              <a:ea typeface="Times New Roman"/>
              <a:cs typeface="Times New Roman"/>
              <a:sym typeface="Times New Roman"/>
            </a:endParaRPr>
          </a:p>
          <a:p>
            <a:pPr marL="0" lvl="0" indent="0" algn="l" rtl="0">
              <a:spcBef>
                <a:spcPts val="600"/>
              </a:spcBef>
              <a:spcAft>
                <a:spcPts val="12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7"/>
          <p:cNvSpPr txBox="1">
            <a:spLocks noGrp="1"/>
          </p:cNvSpPr>
          <p:nvPr>
            <p:ph type="title"/>
          </p:nvPr>
        </p:nvSpPr>
        <p:spPr>
          <a:xfrm>
            <a:off x="0" y="149000"/>
            <a:ext cx="8520600" cy="607800"/>
          </a:xfrm>
          <a:prstGeom prst="rect">
            <a:avLst/>
          </a:prstGeom>
        </p:spPr>
        <p:txBody>
          <a:bodyPr spcFirstLastPara="1" wrap="square" lIns="91425" tIns="91425" rIns="91425" bIns="91425" anchor="t" anchorCtr="0">
            <a:noAutofit/>
          </a:bodyPr>
          <a:lstStyle/>
          <a:p>
            <a:pPr marL="476250" lvl="0" indent="-247650" algn="just" rtl="0">
              <a:lnSpc>
                <a:spcPct val="150000"/>
              </a:lnSpc>
              <a:spcBef>
                <a:spcPts val="1400"/>
              </a:spcBef>
              <a:spcAft>
                <a:spcPts val="0"/>
              </a:spcAft>
              <a:buSzPts val="990"/>
              <a:buNone/>
            </a:pPr>
            <a:r>
              <a:rPr lang="en-GB" sz="2400" b="1" dirty="0">
                <a:solidFill>
                  <a:srgbClr val="000000"/>
                </a:solidFill>
                <a:latin typeface="EB Garamond"/>
                <a:ea typeface="EB Garamond"/>
                <a:cs typeface="EB Garamond"/>
                <a:sym typeface="EB Garamond"/>
              </a:rPr>
              <a:t> Starting Status</a:t>
            </a:r>
            <a:endParaRPr sz="2400" b="1" dirty="0">
              <a:solidFill>
                <a:srgbClr val="000000"/>
              </a:solidFill>
              <a:latin typeface="EB Garamond"/>
              <a:ea typeface="EB Garamond"/>
              <a:cs typeface="EB Garamond"/>
              <a:sym typeface="EB Garamond"/>
            </a:endParaRPr>
          </a:p>
          <a:p>
            <a:pPr marL="0" lvl="0" indent="0" algn="l" rtl="0">
              <a:spcBef>
                <a:spcPts val="1200"/>
              </a:spcBef>
              <a:spcAft>
                <a:spcPts val="0"/>
              </a:spcAft>
              <a:buSzPts val="990"/>
              <a:buNone/>
            </a:pPr>
            <a:endParaRPr sz="2700" dirty="0"/>
          </a:p>
        </p:txBody>
      </p:sp>
      <p:sp>
        <p:nvSpPr>
          <p:cNvPr id="114" name="Google Shape;114;p17"/>
          <p:cNvSpPr txBox="1">
            <a:spLocks noGrp="1"/>
          </p:cNvSpPr>
          <p:nvPr>
            <p:ph type="body" idx="1"/>
          </p:nvPr>
        </p:nvSpPr>
        <p:spPr>
          <a:xfrm>
            <a:off x="311700" y="756800"/>
            <a:ext cx="8520600" cy="4125600"/>
          </a:xfrm>
          <a:prstGeom prst="rect">
            <a:avLst/>
          </a:prstGeom>
        </p:spPr>
        <p:txBody>
          <a:bodyPr spcFirstLastPara="1" wrap="square" lIns="91425" tIns="91425" rIns="91425" bIns="91425" anchor="t" anchorCtr="0">
            <a:noAutofit/>
          </a:bodyPr>
          <a:lstStyle/>
          <a:p>
            <a:pPr marL="0" lvl="0" indent="0" algn="just" rtl="0">
              <a:lnSpc>
                <a:spcPct val="150000"/>
              </a:lnSpc>
              <a:spcBef>
                <a:spcPts val="600"/>
              </a:spcBef>
              <a:spcAft>
                <a:spcPts val="0"/>
              </a:spcAft>
              <a:buNone/>
            </a:pPr>
            <a:r>
              <a:rPr lang="en-GB" sz="1400" dirty="0">
                <a:solidFill>
                  <a:srgbClr val="000000"/>
                </a:solidFill>
                <a:latin typeface="EB Garamond"/>
                <a:ea typeface="EB Garamond"/>
                <a:cs typeface="EB Garamond"/>
                <a:sym typeface="EB Garamond"/>
              </a:rPr>
              <a:t>A jack is an essential tool used for lifting a vehicle, particularly when changing a tire or performing maintenance that requires access underneath the car.</a:t>
            </a:r>
            <a:endParaRPr sz="1400" dirty="0">
              <a:solidFill>
                <a:srgbClr val="000000"/>
              </a:solidFill>
              <a:latin typeface="EB Garamond"/>
              <a:ea typeface="EB Garamond"/>
              <a:cs typeface="EB Garamond"/>
              <a:sym typeface="EB Garamond"/>
            </a:endParaRPr>
          </a:p>
          <a:p>
            <a:pPr marL="457200" lvl="0" indent="-317500" algn="just" rtl="0">
              <a:lnSpc>
                <a:spcPct val="150000"/>
              </a:lnSpc>
              <a:spcBef>
                <a:spcPts val="600"/>
              </a:spcBef>
              <a:spcAft>
                <a:spcPts val="0"/>
              </a:spcAft>
              <a:buClr>
                <a:srgbClr val="000000"/>
              </a:buClr>
              <a:buSzPts val="1400"/>
              <a:buFont typeface="EB Garamond"/>
              <a:buChar char="●"/>
            </a:pPr>
            <a:r>
              <a:rPr lang="en-GB" sz="1400" dirty="0">
                <a:solidFill>
                  <a:srgbClr val="000000"/>
                </a:solidFill>
                <a:highlight>
                  <a:srgbClr val="FFFFFF"/>
                </a:highlight>
                <a:latin typeface="EB Garamond"/>
                <a:ea typeface="EB Garamond"/>
                <a:cs typeface="EB Garamond"/>
                <a:sym typeface="EB Garamond"/>
              </a:rPr>
              <a:t>Types of Jacks</a:t>
            </a:r>
            <a:endParaRPr sz="1400" dirty="0">
              <a:solidFill>
                <a:srgbClr val="000000"/>
              </a:solidFill>
              <a:highlight>
                <a:srgbClr val="FFFFFF"/>
              </a:highlight>
              <a:latin typeface="EB Garamond"/>
              <a:ea typeface="EB Garamond"/>
              <a:cs typeface="EB Garamond"/>
              <a:sym typeface="EB Garamond"/>
            </a:endParaRPr>
          </a:p>
          <a:p>
            <a:pPr marL="0" lvl="0" indent="0" algn="just" rtl="0">
              <a:lnSpc>
                <a:spcPct val="150000"/>
              </a:lnSpc>
              <a:spcBef>
                <a:spcPts val="600"/>
              </a:spcBef>
              <a:spcAft>
                <a:spcPts val="0"/>
              </a:spcAft>
              <a:buNone/>
            </a:pPr>
            <a:r>
              <a:rPr lang="en-GB" sz="1400" dirty="0">
                <a:solidFill>
                  <a:srgbClr val="000000"/>
                </a:solidFill>
                <a:highlight>
                  <a:srgbClr val="FFFFFF"/>
                </a:highlight>
                <a:latin typeface="EB Garamond"/>
                <a:ea typeface="EB Garamond"/>
                <a:cs typeface="EB Garamond"/>
                <a:sym typeface="EB Garamond"/>
              </a:rPr>
              <a:t>There are three main types of jacks commonly used for vehicles:</a:t>
            </a:r>
            <a:endParaRPr sz="1400" dirty="0">
              <a:solidFill>
                <a:srgbClr val="000000"/>
              </a:solidFill>
              <a:highlight>
                <a:srgbClr val="FFFFFF"/>
              </a:highlight>
              <a:latin typeface="EB Garamond"/>
              <a:ea typeface="EB Garamond"/>
              <a:cs typeface="EB Garamond"/>
              <a:sym typeface="EB Garamond"/>
            </a:endParaRPr>
          </a:p>
          <a:p>
            <a:pPr marL="457200" lvl="0" indent="-317500" algn="just" rtl="0">
              <a:lnSpc>
                <a:spcPct val="150000"/>
              </a:lnSpc>
              <a:spcBef>
                <a:spcPts val="600"/>
              </a:spcBef>
              <a:spcAft>
                <a:spcPts val="0"/>
              </a:spcAft>
              <a:buClr>
                <a:srgbClr val="000000"/>
              </a:buClr>
              <a:buSzPts val="1400"/>
              <a:buFont typeface="EB Garamond"/>
              <a:buAutoNum type="arabicPeriod"/>
            </a:pPr>
            <a:r>
              <a:rPr lang="en-GB" sz="1400" dirty="0">
                <a:solidFill>
                  <a:srgbClr val="000000"/>
                </a:solidFill>
                <a:highlight>
                  <a:srgbClr val="FFFFFF"/>
                </a:highlight>
                <a:latin typeface="EB Garamond"/>
                <a:ea typeface="EB Garamond"/>
                <a:cs typeface="EB Garamond"/>
                <a:sym typeface="EB Garamond"/>
              </a:rPr>
              <a:t>Trolley Jack: This type features wheels for easy </a:t>
            </a:r>
            <a:r>
              <a:rPr lang="en-GB" sz="1400" dirty="0" err="1">
                <a:solidFill>
                  <a:srgbClr val="000000"/>
                </a:solidFill>
                <a:highlight>
                  <a:srgbClr val="FFFFFF"/>
                </a:highlight>
                <a:latin typeface="EB Garamond"/>
                <a:ea typeface="EB Garamond"/>
                <a:cs typeface="EB Garamond"/>
                <a:sym typeface="EB Garamond"/>
              </a:rPr>
              <a:t>maneuverability</a:t>
            </a:r>
            <a:r>
              <a:rPr lang="en-GB" sz="1400" dirty="0">
                <a:solidFill>
                  <a:srgbClr val="000000"/>
                </a:solidFill>
                <a:highlight>
                  <a:srgbClr val="FFFFFF"/>
                </a:highlight>
                <a:latin typeface="EB Garamond"/>
                <a:ea typeface="EB Garamond"/>
                <a:cs typeface="EB Garamond"/>
                <a:sym typeface="EB Garamond"/>
              </a:rPr>
              <a:t> and is suitable for lifting heavier vehicles. It provides stability and ease of use.</a:t>
            </a:r>
            <a:endParaRPr sz="1400" dirty="0">
              <a:solidFill>
                <a:srgbClr val="000000"/>
              </a:solidFill>
              <a:highlight>
                <a:srgbClr val="FFFFFF"/>
              </a:highlight>
              <a:latin typeface="EB Garamond"/>
              <a:ea typeface="EB Garamond"/>
              <a:cs typeface="EB Garamond"/>
              <a:sym typeface="EB Garamond"/>
            </a:endParaRPr>
          </a:p>
          <a:p>
            <a:pPr marL="457200" lvl="0" indent="-317500" algn="just" rtl="0">
              <a:lnSpc>
                <a:spcPct val="150000"/>
              </a:lnSpc>
              <a:spcBef>
                <a:spcPts val="0"/>
              </a:spcBef>
              <a:spcAft>
                <a:spcPts val="0"/>
              </a:spcAft>
              <a:buClr>
                <a:srgbClr val="000000"/>
              </a:buClr>
              <a:buSzPts val="1400"/>
              <a:buFont typeface="EB Garamond"/>
              <a:buAutoNum type="arabicPeriod"/>
            </a:pPr>
            <a:r>
              <a:rPr lang="en-GB" sz="1400" dirty="0">
                <a:solidFill>
                  <a:srgbClr val="000000"/>
                </a:solidFill>
                <a:highlight>
                  <a:srgbClr val="FFFFFF"/>
                </a:highlight>
                <a:latin typeface="EB Garamond"/>
                <a:ea typeface="EB Garamond"/>
                <a:cs typeface="EB Garamond"/>
                <a:sym typeface="EB Garamond"/>
              </a:rPr>
              <a:t>Bottle Jack: Compact and portable, bottle jacks are ideal for tight spaces but require a stable surface to operate effectively.</a:t>
            </a:r>
            <a:endParaRPr sz="1400" dirty="0">
              <a:solidFill>
                <a:srgbClr val="000000"/>
              </a:solidFill>
              <a:highlight>
                <a:srgbClr val="FFFFFF"/>
              </a:highlight>
              <a:latin typeface="EB Garamond"/>
              <a:ea typeface="EB Garamond"/>
              <a:cs typeface="EB Garamond"/>
              <a:sym typeface="EB Garamond"/>
            </a:endParaRPr>
          </a:p>
          <a:p>
            <a:pPr marL="457200" lvl="0" indent="-317500" algn="just" rtl="0">
              <a:lnSpc>
                <a:spcPct val="150000"/>
              </a:lnSpc>
              <a:spcBef>
                <a:spcPts val="0"/>
              </a:spcBef>
              <a:spcAft>
                <a:spcPts val="0"/>
              </a:spcAft>
              <a:buClr>
                <a:srgbClr val="000000"/>
              </a:buClr>
              <a:buSzPts val="1400"/>
              <a:buFont typeface="EB Garamond"/>
              <a:buAutoNum type="arabicPeriod"/>
            </a:pPr>
            <a:r>
              <a:rPr lang="en-GB" sz="1400" b="1" dirty="0">
                <a:solidFill>
                  <a:srgbClr val="000000"/>
                </a:solidFill>
                <a:highlight>
                  <a:srgbClr val="FFFFFF"/>
                </a:highlight>
                <a:latin typeface="EB Garamond"/>
                <a:ea typeface="EB Garamond"/>
                <a:cs typeface="EB Garamond"/>
                <a:sym typeface="EB Garamond"/>
              </a:rPr>
              <a:t>Scissor Jack</a:t>
            </a:r>
            <a:r>
              <a:rPr lang="en-GB" sz="1400" dirty="0">
                <a:solidFill>
                  <a:srgbClr val="000000"/>
                </a:solidFill>
                <a:highlight>
                  <a:srgbClr val="FFFFFF"/>
                </a:highlight>
                <a:latin typeface="EB Garamond"/>
                <a:ea typeface="EB Garamond"/>
                <a:cs typeface="EB Garamond"/>
                <a:sym typeface="EB Garamond"/>
              </a:rPr>
              <a:t>: Typically found in many vehicles as part of the tire repair kit, scissor jacks are lightweight and operate by a cranking mechanism, making them suitable for emergency situations.</a:t>
            </a:r>
            <a:endParaRPr sz="1400" dirty="0">
              <a:solidFill>
                <a:srgbClr val="000000"/>
              </a:solidFill>
              <a:highlight>
                <a:srgbClr val="FFFFFF"/>
              </a:highlight>
              <a:latin typeface="EB Garamond"/>
              <a:ea typeface="EB Garamond"/>
              <a:cs typeface="EB Garamond"/>
              <a:sym typeface="EB Garamond"/>
            </a:endParaRPr>
          </a:p>
          <a:p>
            <a:pPr marL="457200" lvl="0" indent="0" algn="just" rtl="0">
              <a:lnSpc>
                <a:spcPct val="150000"/>
              </a:lnSpc>
              <a:spcBef>
                <a:spcPts val="600"/>
              </a:spcBef>
              <a:spcAft>
                <a:spcPts val="600"/>
              </a:spcAft>
              <a:buNone/>
            </a:pPr>
            <a:endParaRPr sz="1400" dirty="0">
              <a:solidFill>
                <a:srgbClr val="000000"/>
              </a:solidFill>
              <a:latin typeface="EB Garamond"/>
              <a:ea typeface="EB Garamond"/>
              <a:cs typeface="EB Garamond"/>
              <a:sym typeface="EB Garamon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8"/>
          <p:cNvSpPr txBox="1">
            <a:spLocks noGrp="1"/>
          </p:cNvSpPr>
          <p:nvPr>
            <p:ph type="title"/>
          </p:nvPr>
        </p:nvSpPr>
        <p:spPr>
          <a:xfrm>
            <a:off x="192100" y="257775"/>
            <a:ext cx="8520600" cy="607800"/>
          </a:xfrm>
          <a:prstGeom prst="rect">
            <a:avLst/>
          </a:prstGeom>
        </p:spPr>
        <p:txBody>
          <a:bodyPr spcFirstLastPara="1" wrap="square" lIns="91425" tIns="91425" rIns="91425" bIns="91425" anchor="t" anchorCtr="0">
            <a:normAutofit/>
          </a:bodyPr>
          <a:lstStyle/>
          <a:p>
            <a:pPr marL="0" lvl="0" indent="0" algn="l" rtl="0">
              <a:lnSpc>
                <a:spcPct val="107916"/>
              </a:lnSpc>
              <a:spcBef>
                <a:spcPts val="0"/>
              </a:spcBef>
              <a:spcAft>
                <a:spcPts val="800"/>
              </a:spcAft>
              <a:buNone/>
            </a:pPr>
            <a:r>
              <a:rPr lang="en-GB" sz="2400" b="1">
                <a:solidFill>
                  <a:srgbClr val="000000"/>
                </a:solidFill>
                <a:latin typeface="EB Garamond"/>
                <a:ea typeface="EB Garamond"/>
                <a:cs typeface="EB Garamond"/>
                <a:sym typeface="EB Garamond"/>
              </a:rPr>
              <a:t>3D Modelling (SolidWorks)</a:t>
            </a:r>
            <a:endParaRPr sz="2400" b="1">
              <a:solidFill>
                <a:srgbClr val="000000"/>
              </a:solidFill>
              <a:highlight>
                <a:srgbClr val="FFFFFF"/>
              </a:highlight>
              <a:latin typeface="EB Garamond"/>
              <a:ea typeface="EB Garamond"/>
              <a:cs typeface="EB Garamond"/>
              <a:sym typeface="EB Garamond"/>
            </a:endParaRPr>
          </a:p>
        </p:txBody>
      </p:sp>
      <p:sp>
        <p:nvSpPr>
          <p:cNvPr id="120" name="Google Shape;120;p18"/>
          <p:cNvSpPr txBox="1">
            <a:spLocks noGrp="1"/>
          </p:cNvSpPr>
          <p:nvPr>
            <p:ph type="body" idx="1"/>
          </p:nvPr>
        </p:nvSpPr>
        <p:spPr>
          <a:xfrm>
            <a:off x="257325" y="805775"/>
            <a:ext cx="8520600" cy="3339000"/>
          </a:xfrm>
          <a:prstGeom prst="rect">
            <a:avLst/>
          </a:prstGeom>
        </p:spPr>
        <p:txBody>
          <a:bodyPr spcFirstLastPara="1" wrap="square" lIns="91425" tIns="91425" rIns="91425" bIns="91425" anchor="t" anchorCtr="0">
            <a:normAutofit/>
          </a:bodyPr>
          <a:lstStyle/>
          <a:p>
            <a:pPr marL="0" lvl="0" indent="0" algn="just" rtl="0">
              <a:lnSpc>
                <a:spcPct val="150000"/>
              </a:lnSpc>
              <a:spcBef>
                <a:spcPts val="1400"/>
              </a:spcBef>
              <a:spcAft>
                <a:spcPts val="0"/>
              </a:spcAft>
              <a:buNone/>
            </a:pPr>
            <a:r>
              <a:rPr lang="en-GB" sz="1700">
                <a:solidFill>
                  <a:srgbClr val="000000"/>
                </a:solidFill>
                <a:highlight>
                  <a:srgbClr val="FFFFFF"/>
                </a:highlight>
                <a:latin typeface="EB Garamond"/>
                <a:ea typeface="EB Garamond"/>
                <a:cs typeface="EB Garamond"/>
                <a:sym typeface="EB Garamond"/>
              </a:rPr>
              <a:t>Modelling Approach</a:t>
            </a:r>
            <a:endParaRPr sz="1700">
              <a:solidFill>
                <a:srgbClr val="000000"/>
              </a:solidFill>
              <a:highlight>
                <a:srgbClr val="FFFFFF"/>
              </a:highlight>
              <a:latin typeface="EB Garamond"/>
              <a:ea typeface="EB Garamond"/>
              <a:cs typeface="EB Garamond"/>
              <a:sym typeface="EB Garamond"/>
            </a:endParaRPr>
          </a:p>
          <a:p>
            <a:pPr marL="0" lvl="0" indent="0" algn="just" rtl="0">
              <a:lnSpc>
                <a:spcPct val="150000"/>
              </a:lnSpc>
              <a:spcBef>
                <a:spcPts val="1400"/>
              </a:spcBef>
              <a:spcAft>
                <a:spcPts val="0"/>
              </a:spcAft>
              <a:buNone/>
            </a:pPr>
            <a:r>
              <a:rPr lang="en-GB" sz="1400">
                <a:solidFill>
                  <a:srgbClr val="000000"/>
                </a:solidFill>
                <a:latin typeface="EB Garamond"/>
                <a:ea typeface="EB Garamond"/>
                <a:cs typeface="EB Garamond"/>
                <a:sym typeface="EB Garamond"/>
              </a:rPr>
              <a:t>During the design and development of new products, designers and engineers rely on both a bottom-up and top-down approach. </a:t>
            </a:r>
            <a:endParaRPr sz="1400">
              <a:solidFill>
                <a:srgbClr val="000000"/>
              </a:solidFill>
              <a:latin typeface="EB Garamond"/>
              <a:ea typeface="EB Garamond"/>
              <a:cs typeface="EB Garamond"/>
              <a:sym typeface="EB Garamond"/>
            </a:endParaRPr>
          </a:p>
          <a:p>
            <a:pPr marL="0" lvl="0" indent="0" algn="just" rtl="0">
              <a:lnSpc>
                <a:spcPct val="150000"/>
              </a:lnSpc>
              <a:spcBef>
                <a:spcPts val="1200"/>
              </a:spcBef>
              <a:spcAft>
                <a:spcPts val="600"/>
              </a:spcAft>
              <a:buNone/>
            </a:pPr>
            <a:r>
              <a:rPr lang="en-GB" sz="1400">
                <a:solidFill>
                  <a:srgbClr val="000000"/>
                </a:solidFill>
                <a:highlight>
                  <a:srgbClr val="FFFFFF"/>
                </a:highlight>
                <a:latin typeface="EB Garamond"/>
                <a:ea typeface="EB Garamond"/>
                <a:cs typeface="EB Garamond"/>
                <a:sym typeface="EB Garamond"/>
              </a:rPr>
              <a:t>For modeling the AQJ, we employed a bottom-up approach. We began by designing the lifting mechanism (LM), and based on its overall dimensions, we subsequently designed the other components to fit accordingly. We utilized the sheet metal feature in SolidWorks to create the model.</a:t>
            </a:r>
            <a:endParaRPr sz="1400">
              <a:solidFill>
                <a:srgbClr val="000000"/>
              </a:solidFill>
              <a:latin typeface="EB Garamond"/>
              <a:ea typeface="EB Garamond"/>
              <a:cs typeface="EB Garamond"/>
              <a:sym typeface="EB Garamon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p>
            <a:pPr marL="0" lvl="0" indent="0" algn="l" rtl="0">
              <a:lnSpc>
                <a:spcPct val="150000"/>
              </a:lnSpc>
              <a:spcBef>
                <a:spcPts val="600"/>
              </a:spcBef>
              <a:spcAft>
                <a:spcPts val="600"/>
              </a:spcAft>
              <a:buNone/>
            </a:pPr>
            <a:r>
              <a:rPr lang="en-GB" sz="2400" b="1">
                <a:solidFill>
                  <a:srgbClr val="000000"/>
                </a:solidFill>
                <a:highlight>
                  <a:srgbClr val="FFFFFF"/>
                </a:highlight>
                <a:latin typeface="EB Garamond"/>
                <a:ea typeface="EB Garamond"/>
                <a:cs typeface="EB Garamond"/>
                <a:sym typeface="EB Garamond"/>
              </a:rPr>
              <a:t>AQJ Isometric View</a:t>
            </a:r>
            <a:endParaRPr sz="4200" b="1">
              <a:latin typeface="EB Garamond"/>
              <a:ea typeface="EB Garamond"/>
              <a:cs typeface="EB Garamond"/>
              <a:sym typeface="EB Garamond"/>
            </a:endParaRPr>
          </a:p>
        </p:txBody>
      </p:sp>
      <p:pic>
        <p:nvPicPr>
          <p:cNvPr id="126" name="Google Shape;126;p19"/>
          <p:cNvPicPr preferRelativeResize="0"/>
          <p:nvPr/>
        </p:nvPicPr>
        <p:blipFill>
          <a:blip r:embed="rId3">
            <a:alphaModFix/>
          </a:blip>
          <a:stretch>
            <a:fillRect/>
          </a:stretch>
        </p:blipFill>
        <p:spPr>
          <a:xfrm>
            <a:off x="1196300" y="1218075"/>
            <a:ext cx="6205225" cy="2603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0"/>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p>
            <a:pPr marL="0" lvl="0" indent="0" algn="just" rtl="0">
              <a:lnSpc>
                <a:spcPct val="150000"/>
              </a:lnSpc>
              <a:spcBef>
                <a:spcPts val="600"/>
              </a:spcBef>
              <a:spcAft>
                <a:spcPts val="600"/>
              </a:spcAft>
              <a:buNone/>
            </a:pPr>
            <a:r>
              <a:rPr lang="en-GB" sz="2400" b="1">
                <a:solidFill>
                  <a:srgbClr val="000000"/>
                </a:solidFill>
                <a:highlight>
                  <a:srgbClr val="FFFFFF"/>
                </a:highlight>
                <a:latin typeface="EB Garamond"/>
                <a:ea typeface="EB Garamond"/>
                <a:cs typeface="EB Garamond"/>
                <a:sym typeface="EB Garamond"/>
              </a:rPr>
              <a:t>Dimensions</a:t>
            </a:r>
            <a:endParaRPr sz="2400" b="1">
              <a:latin typeface="EB Garamond"/>
              <a:ea typeface="EB Garamond"/>
              <a:cs typeface="EB Garamond"/>
              <a:sym typeface="EB Garamond"/>
            </a:endParaRPr>
          </a:p>
        </p:txBody>
      </p:sp>
      <p:sp>
        <p:nvSpPr>
          <p:cNvPr id="132" name="Google Shape;132;p20"/>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just" rtl="0">
              <a:lnSpc>
                <a:spcPct val="150000"/>
              </a:lnSpc>
              <a:spcBef>
                <a:spcPts val="600"/>
              </a:spcBef>
              <a:spcAft>
                <a:spcPts val="0"/>
              </a:spcAft>
              <a:buNone/>
            </a:pPr>
            <a:r>
              <a:rPr lang="en-GB" sz="1400">
                <a:solidFill>
                  <a:srgbClr val="000000"/>
                </a:solidFill>
                <a:highlight>
                  <a:srgbClr val="FFFFFF"/>
                </a:highlight>
                <a:latin typeface="EB Garamond"/>
                <a:ea typeface="EB Garamond"/>
                <a:cs typeface="EB Garamond"/>
                <a:sym typeface="EB Garamond"/>
              </a:rPr>
              <a:t>For most vehicles, ground clearance typically ranges from 100 mm to 200 mm. Specifically, standard passenger cars often have a ground clearance around 130 mm, while sports cars may have lower clearances, sometimes as low as 110 mm, to enhance aerodynamics and handling.</a:t>
            </a:r>
            <a:endParaRPr sz="1400">
              <a:solidFill>
                <a:srgbClr val="000000"/>
              </a:solidFill>
              <a:highlight>
                <a:srgbClr val="FFFFFF"/>
              </a:highlight>
              <a:latin typeface="EB Garamond"/>
              <a:ea typeface="EB Garamond"/>
              <a:cs typeface="EB Garamond"/>
              <a:sym typeface="EB Garamond"/>
            </a:endParaRPr>
          </a:p>
          <a:p>
            <a:pPr marL="0" lvl="0" indent="0" algn="just" rtl="0">
              <a:lnSpc>
                <a:spcPct val="150000"/>
              </a:lnSpc>
              <a:spcBef>
                <a:spcPts val="600"/>
              </a:spcBef>
              <a:spcAft>
                <a:spcPts val="0"/>
              </a:spcAft>
              <a:buNone/>
            </a:pPr>
            <a:r>
              <a:rPr lang="en-GB" sz="1400">
                <a:solidFill>
                  <a:srgbClr val="000000"/>
                </a:solidFill>
                <a:highlight>
                  <a:srgbClr val="FFFFFF"/>
                </a:highlight>
                <a:latin typeface="EB Garamond"/>
                <a:ea typeface="EB Garamond"/>
                <a:cs typeface="EB Garamond"/>
                <a:sym typeface="EB Garamond"/>
              </a:rPr>
              <a:t> The designed AQJ has a lifting range from 0-57mm.</a:t>
            </a:r>
            <a:endParaRPr sz="1400">
              <a:solidFill>
                <a:srgbClr val="000000"/>
              </a:solidFill>
              <a:highlight>
                <a:srgbClr val="FFFFFF"/>
              </a:highlight>
              <a:latin typeface="EB Garamond"/>
              <a:ea typeface="EB Garamond"/>
              <a:cs typeface="EB Garamond"/>
              <a:sym typeface="EB Garamond"/>
            </a:endParaRPr>
          </a:p>
          <a:p>
            <a:pPr marL="0" lvl="0" indent="0" algn="just" rtl="0">
              <a:spcBef>
                <a:spcPts val="600"/>
              </a:spcBef>
              <a:spcAft>
                <a:spcPts val="1200"/>
              </a:spcAft>
              <a:buNone/>
            </a:pPr>
            <a:endParaRPr sz="1400">
              <a:latin typeface="EB Garamond"/>
              <a:ea typeface="EB Garamond"/>
              <a:cs typeface="EB Garamond"/>
              <a:sym typeface="EB Garamon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1"/>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lnSpc>
                <a:spcPct val="150000"/>
              </a:lnSpc>
              <a:spcBef>
                <a:spcPts val="600"/>
              </a:spcBef>
              <a:spcAft>
                <a:spcPts val="0"/>
              </a:spcAft>
              <a:buNone/>
            </a:pPr>
            <a:r>
              <a:rPr lang="en-GB" sz="2400" b="1">
                <a:solidFill>
                  <a:srgbClr val="000000"/>
                </a:solidFill>
                <a:latin typeface="EB Garamond"/>
                <a:ea typeface="EB Garamond"/>
                <a:cs typeface="EB Garamond"/>
                <a:sym typeface="EB Garamond"/>
              </a:rPr>
              <a:t>AQJ Static Condition Height Measurement (117.19 mm)</a:t>
            </a:r>
            <a:endParaRPr sz="2400" b="1">
              <a:solidFill>
                <a:srgbClr val="000000"/>
              </a:solidFill>
              <a:latin typeface="EB Garamond"/>
              <a:ea typeface="EB Garamond"/>
              <a:cs typeface="EB Garamond"/>
              <a:sym typeface="EB Garamond"/>
            </a:endParaRPr>
          </a:p>
          <a:p>
            <a:pPr marL="0" lvl="0" indent="0" algn="l" rtl="0">
              <a:spcBef>
                <a:spcPts val="600"/>
              </a:spcBef>
              <a:spcAft>
                <a:spcPts val="0"/>
              </a:spcAft>
              <a:buNone/>
            </a:pPr>
            <a:endParaRPr/>
          </a:p>
        </p:txBody>
      </p:sp>
      <p:pic>
        <p:nvPicPr>
          <p:cNvPr id="138" name="Google Shape;138;p21"/>
          <p:cNvPicPr preferRelativeResize="0"/>
          <p:nvPr/>
        </p:nvPicPr>
        <p:blipFill>
          <a:blip r:embed="rId3">
            <a:alphaModFix/>
          </a:blip>
          <a:stretch>
            <a:fillRect/>
          </a:stretch>
        </p:blipFill>
        <p:spPr>
          <a:xfrm>
            <a:off x="1533425" y="1157025"/>
            <a:ext cx="5482600" cy="3074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2"/>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p>
            <a:pPr marL="0" lvl="0" indent="0" algn="l" rtl="0">
              <a:lnSpc>
                <a:spcPct val="150000"/>
              </a:lnSpc>
              <a:spcBef>
                <a:spcPts val="600"/>
              </a:spcBef>
              <a:spcAft>
                <a:spcPts val="600"/>
              </a:spcAft>
              <a:buNone/>
            </a:pPr>
            <a:r>
              <a:rPr lang="en-GB" sz="2400" b="1">
                <a:solidFill>
                  <a:srgbClr val="000000"/>
                </a:solidFill>
                <a:latin typeface="EB Garamond"/>
                <a:ea typeface="EB Garamond"/>
                <a:cs typeface="EB Garamond"/>
                <a:sym typeface="EB Garamond"/>
              </a:rPr>
              <a:t>AQJ Lifting Condition Height Measurement (175.01 mm)</a:t>
            </a:r>
            <a:endParaRPr sz="2400" b="1">
              <a:latin typeface="EB Garamond"/>
              <a:ea typeface="EB Garamond"/>
              <a:cs typeface="EB Garamond"/>
              <a:sym typeface="EB Garamond"/>
            </a:endParaRPr>
          </a:p>
        </p:txBody>
      </p:sp>
      <p:pic>
        <p:nvPicPr>
          <p:cNvPr id="144" name="Google Shape;144;p22"/>
          <p:cNvPicPr preferRelativeResize="0"/>
          <p:nvPr/>
        </p:nvPicPr>
        <p:blipFill>
          <a:blip r:embed="rId3">
            <a:alphaModFix/>
          </a:blip>
          <a:stretch>
            <a:fillRect/>
          </a:stretch>
        </p:blipFill>
        <p:spPr>
          <a:xfrm>
            <a:off x="1740000" y="1544300"/>
            <a:ext cx="5219700" cy="2962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3"/>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lnSpc>
                <a:spcPct val="150000"/>
              </a:lnSpc>
              <a:spcBef>
                <a:spcPts val="600"/>
              </a:spcBef>
              <a:spcAft>
                <a:spcPts val="0"/>
              </a:spcAft>
              <a:buNone/>
            </a:pPr>
            <a:r>
              <a:rPr lang="en-GB" sz="2400" b="1">
                <a:solidFill>
                  <a:srgbClr val="000000"/>
                </a:solidFill>
                <a:latin typeface="EB Garamond"/>
                <a:ea typeface="EB Garamond"/>
                <a:cs typeface="EB Garamond"/>
                <a:sym typeface="EB Garamond"/>
              </a:rPr>
              <a:t>AQJ Wheelbase Measurement (240 mm)</a:t>
            </a:r>
            <a:endParaRPr sz="2400" b="1">
              <a:solidFill>
                <a:srgbClr val="000000"/>
              </a:solidFill>
              <a:latin typeface="EB Garamond"/>
              <a:ea typeface="EB Garamond"/>
              <a:cs typeface="EB Garamond"/>
              <a:sym typeface="EB Garamond"/>
            </a:endParaRPr>
          </a:p>
          <a:p>
            <a:pPr marL="0" lvl="0" indent="0" algn="l" rtl="0">
              <a:spcBef>
                <a:spcPts val="600"/>
              </a:spcBef>
              <a:spcAft>
                <a:spcPts val="0"/>
              </a:spcAft>
              <a:buNone/>
            </a:pPr>
            <a:endParaRPr/>
          </a:p>
        </p:txBody>
      </p:sp>
      <p:pic>
        <p:nvPicPr>
          <p:cNvPr id="150" name="Google Shape;150;p23"/>
          <p:cNvPicPr preferRelativeResize="0"/>
          <p:nvPr/>
        </p:nvPicPr>
        <p:blipFill>
          <a:blip r:embed="rId3">
            <a:alphaModFix/>
          </a:blip>
          <a:stretch>
            <a:fillRect/>
          </a:stretch>
        </p:blipFill>
        <p:spPr>
          <a:xfrm>
            <a:off x="1787213" y="1244000"/>
            <a:ext cx="5961076" cy="3164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4"/>
          <p:cNvSpPr txBox="1">
            <a:spLocks noGrp="1"/>
          </p:cNvSpPr>
          <p:nvPr>
            <p:ph type="title"/>
          </p:nvPr>
        </p:nvSpPr>
        <p:spPr>
          <a:xfrm>
            <a:off x="311700" y="225125"/>
            <a:ext cx="8520600" cy="607800"/>
          </a:xfrm>
          <a:prstGeom prst="rect">
            <a:avLst/>
          </a:prstGeom>
        </p:spPr>
        <p:txBody>
          <a:bodyPr spcFirstLastPara="1" wrap="square" lIns="91425" tIns="91425" rIns="91425" bIns="91425" anchor="t" anchorCtr="0">
            <a:noAutofit/>
          </a:bodyPr>
          <a:lstStyle/>
          <a:p>
            <a:pPr marL="0" lvl="0" indent="0" algn="l" rtl="0">
              <a:lnSpc>
                <a:spcPct val="150000"/>
              </a:lnSpc>
              <a:spcBef>
                <a:spcPts val="600"/>
              </a:spcBef>
              <a:spcAft>
                <a:spcPts val="0"/>
              </a:spcAft>
              <a:buNone/>
            </a:pPr>
            <a:r>
              <a:rPr lang="en-GB" sz="2400" b="1">
                <a:solidFill>
                  <a:srgbClr val="000000"/>
                </a:solidFill>
                <a:latin typeface="EB Garamond"/>
                <a:ea typeface="EB Garamond"/>
                <a:cs typeface="EB Garamond"/>
                <a:sym typeface="EB Garamond"/>
              </a:rPr>
              <a:t> AQJ Track Width Measurement (228 mm)</a:t>
            </a:r>
            <a:endParaRPr sz="2400" b="1">
              <a:solidFill>
                <a:srgbClr val="000000"/>
              </a:solidFill>
              <a:latin typeface="EB Garamond"/>
              <a:ea typeface="EB Garamond"/>
              <a:cs typeface="EB Garamond"/>
              <a:sym typeface="EB Garamond"/>
            </a:endParaRPr>
          </a:p>
          <a:p>
            <a:pPr marL="0" lvl="0" indent="0" algn="l" rtl="0">
              <a:spcBef>
                <a:spcPts val="600"/>
              </a:spcBef>
              <a:spcAft>
                <a:spcPts val="0"/>
              </a:spcAft>
              <a:buNone/>
            </a:pPr>
            <a:endParaRPr/>
          </a:p>
        </p:txBody>
      </p:sp>
      <p:pic>
        <p:nvPicPr>
          <p:cNvPr id="156" name="Google Shape;156;p24"/>
          <p:cNvPicPr preferRelativeResize="0"/>
          <p:nvPr/>
        </p:nvPicPr>
        <p:blipFill>
          <a:blip r:embed="rId3">
            <a:alphaModFix/>
          </a:blip>
          <a:stretch>
            <a:fillRect/>
          </a:stretch>
        </p:blipFill>
        <p:spPr>
          <a:xfrm>
            <a:off x="1087600" y="633413"/>
            <a:ext cx="5928426" cy="3876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p>
            <a:pPr marL="0" lvl="0" indent="0" algn="l" rtl="0">
              <a:lnSpc>
                <a:spcPct val="107916"/>
              </a:lnSpc>
              <a:spcBef>
                <a:spcPts val="0"/>
              </a:spcBef>
              <a:spcAft>
                <a:spcPts val="800"/>
              </a:spcAft>
              <a:buNone/>
            </a:pPr>
            <a:r>
              <a:rPr lang="en-GB" sz="2400" b="1">
                <a:solidFill>
                  <a:srgbClr val="000000"/>
                </a:solidFill>
                <a:latin typeface="EB Garamond"/>
                <a:ea typeface="EB Garamond"/>
                <a:cs typeface="EB Garamond"/>
                <a:sym typeface="EB Garamond"/>
              </a:rPr>
              <a:t>Finite Element Analysis (SolidWorks)</a:t>
            </a:r>
            <a:endParaRPr sz="2400" b="1">
              <a:latin typeface="EB Garamond"/>
              <a:ea typeface="EB Garamond"/>
              <a:cs typeface="EB Garamond"/>
              <a:sym typeface="EB Garamond"/>
            </a:endParaRPr>
          </a:p>
        </p:txBody>
      </p:sp>
      <p:sp>
        <p:nvSpPr>
          <p:cNvPr id="162" name="Google Shape;162;p25"/>
          <p:cNvSpPr txBox="1">
            <a:spLocks noGrp="1"/>
          </p:cNvSpPr>
          <p:nvPr>
            <p:ph type="body" idx="1"/>
          </p:nvPr>
        </p:nvSpPr>
        <p:spPr>
          <a:xfrm>
            <a:off x="311700" y="1077650"/>
            <a:ext cx="8520600" cy="3339000"/>
          </a:xfrm>
          <a:prstGeom prst="rect">
            <a:avLst/>
          </a:prstGeom>
        </p:spPr>
        <p:txBody>
          <a:bodyPr spcFirstLastPara="1" wrap="square" lIns="91425" tIns="91425" rIns="91425" bIns="91425" anchor="t" anchorCtr="0">
            <a:normAutofit lnSpcReduction="10000"/>
          </a:bodyPr>
          <a:lstStyle/>
          <a:p>
            <a:pPr marL="0" lvl="0" indent="0" algn="just" rtl="0">
              <a:lnSpc>
                <a:spcPct val="150000"/>
              </a:lnSpc>
              <a:spcBef>
                <a:spcPts val="1400"/>
              </a:spcBef>
              <a:spcAft>
                <a:spcPts val="0"/>
              </a:spcAft>
              <a:buNone/>
            </a:pPr>
            <a:r>
              <a:rPr lang="en-GB" sz="1700">
                <a:solidFill>
                  <a:srgbClr val="000000"/>
                </a:solidFill>
                <a:highlight>
                  <a:srgbClr val="FFFFFF"/>
                </a:highlight>
                <a:latin typeface="EB Garamond"/>
                <a:ea typeface="EB Garamond"/>
                <a:cs typeface="EB Garamond"/>
                <a:sym typeface="EB Garamond"/>
              </a:rPr>
              <a:t>Definition of analysis</a:t>
            </a:r>
            <a:endParaRPr sz="1700">
              <a:solidFill>
                <a:srgbClr val="000000"/>
              </a:solidFill>
              <a:highlight>
                <a:srgbClr val="FFFFFF"/>
              </a:highlight>
              <a:latin typeface="EB Garamond"/>
              <a:ea typeface="EB Garamond"/>
              <a:cs typeface="EB Garamond"/>
              <a:sym typeface="EB Garamond"/>
            </a:endParaRPr>
          </a:p>
          <a:p>
            <a:pPr marL="0" lvl="0" indent="0" algn="just" rtl="0">
              <a:lnSpc>
                <a:spcPct val="150000"/>
              </a:lnSpc>
              <a:spcBef>
                <a:spcPts val="1200"/>
              </a:spcBef>
              <a:spcAft>
                <a:spcPts val="0"/>
              </a:spcAft>
              <a:buNone/>
            </a:pPr>
            <a:r>
              <a:rPr lang="en-GB" sz="1400">
                <a:solidFill>
                  <a:srgbClr val="000000"/>
                </a:solidFill>
                <a:latin typeface="EB Garamond"/>
                <a:ea typeface="EB Garamond"/>
                <a:cs typeface="EB Garamond"/>
                <a:sym typeface="EB Garamond"/>
              </a:rPr>
              <a:t>The load acting on each wheel of a passenger car, the weight supported by a single wheel of a passenger vehicle depends on the vehicle's total weight and its weight distribution. Small autos usually weigh around 1,134 Kg and large automobiles about 1,950 Kg. Taking an average of small and large vehicles (1,134 + 1,950 = 3,084/2 = 1,542 Kg)</a:t>
            </a:r>
            <a:endParaRPr sz="1400">
              <a:solidFill>
                <a:srgbClr val="000000"/>
              </a:solidFill>
              <a:latin typeface="EB Garamond"/>
              <a:ea typeface="EB Garamond"/>
              <a:cs typeface="EB Garamond"/>
              <a:sym typeface="EB Garamond"/>
            </a:endParaRPr>
          </a:p>
          <a:p>
            <a:pPr marL="0" lvl="0" indent="0" algn="just"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Assuming a 50/50 weight distribution, each wheel would support about 25% of the vehicle's total weight. Therefore, the weight on a single wheel can be calculated as follows:</a:t>
            </a:r>
            <a:endParaRPr sz="1400">
              <a:solidFill>
                <a:srgbClr val="000000"/>
              </a:solidFill>
              <a:latin typeface="EB Garamond"/>
              <a:ea typeface="EB Garamond"/>
              <a:cs typeface="EB Garamond"/>
              <a:sym typeface="EB Garamond"/>
            </a:endParaRPr>
          </a:p>
          <a:p>
            <a:pPr marL="0" lvl="0" indent="0" algn="just"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Weight per wheel in kilograms: 1,542 kg × 0.25 = 385.5 kg</a:t>
            </a:r>
            <a:endParaRPr sz="1400">
              <a:solidFill>
                <a:srgbClr val="000000"/>
              </a:solidFill>
              <a:latin typeface="EB Garamond"/>
              <a:ea typeface="EB Garamond"/>
              <a:cs typeface="EB Garamond"/>
              <a:sym typeface="EB Garamond"/>
            </a:endParaRPr>
          </a:p>
          <a:p>
            <a:pPr marL="0" lvl="0" indent="0" algn="just"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Weight per wheel in newtons: 385.5 kg × 9.81 m/s² ≈ 3,782 N</a:t>
            </a:r>
            <a:endParaRPr sz="1400">
              <a:solidFill>
                <a:srgbClr val="000000"/>
              </a:solidFill>
              <a:latin typeface="EB Garamond"/>
              <a:ea typeface="EB Garamond"/>
              <a:cs typeface="EB Garamond"/>
              <a:sym typeface="EB Garamond"/>
            </a:endParaRPr>
          </a:p>
          <a:p>
            <a:pPr marL="0" lvl="0" indent="0" algn="just" rtl="0">
              <a:lnSpc>
                <a:spcPct val="150000"/>
              </a:lnSpc>
              <a:spcBef>
                <a:spcPts val="600"/>
              </a:spcBef>
              <a:spcAft>
                <a:spcPts val="600"/>
              </a:spcAft>
              <a:buNone/>
            </a:pPr>
            <a:r>
              <a:rPr lang="en-GB" sz="1400">
                <a:solidFill>
                  <a:srgbClr val="000000"/>
                </a:solidFill>
                <a:latin typeface="EB Garamond"/>
                <a:ea typeface="EB Garamond"/>
                <a:cs typeface="EB Garamond"/>
                <a:sym typeface="EB Garamond"/>
              </a:rPr>
              <a:t>This calculation indicates that each wheel supports approximately 3,782 newtons.</a:t>
            </a:r>
            <a:endParaRPr sz="1400">
              <a:latin typeface="EB Garamond"/>
              <a:ea typeface="EB Garamond"/>
              <a:cs typeface="EB Garamond"/>
              <a:sym typeface="EB Garamon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p>
            <a:pPr marL="0" lvl="0" indent="0" algn="just" rtl="0">
              <a:lnSpc>
                <a:spcPct val="107916"/>
              </a:lnSpc>
              <a:spcBef>
                <a:spcPts val="0"/>
              </a:spcBef>
              <a:spcAft>
                <a:spcPts val="800"/>
              </a:spcAft>
              <a:buNone/>
            </a:pPr>
            <a:r>
              <a:rPr lang="en-GB" sz="2400" b="1">
                <a:solidFill>
                  <a:srgbClr val="000000"/>
                </a:solidFill>
                <a:latin typeface="EB Garamond"/>
                <a:ea typeface="EB Garamond"/>
                <a:cs typeface="EB Garamond"/>
                <a:sym typeface="EB Garamond"/>
              </a:rPr>
              <a:t>Analysis Case 1</a:t>
            </a:r>
            <a:endParaRPr sz="2400" b="1">
              <a:latin typeface="EB Garamond"/>
              <a:ea typeface="EB Garamond"/>
              <a:cs typeface="EB Garamond"/>
              <a:sym typeface="EB Garamond"/>
            </a:endParaRPr>
          </a:p>
        </p:txBody>
      </p:sp>
      <p:sp>
        <p:nvSpPr>
          <p:cNvPr id="168" name="Google Shape;168;p26"/>
          <p:cNvSpPr txBox="1">
            <a:spLocks noGrp="1"/>
          </p:cNvSpPr>
          <p:nvPr>
            <p:ph type="body" idx="1"/>
          </p:nvPr>
        </p:nvSpPr>
        <p:spPr>
          <a:xfrm>
            <a:off x="311700" y="902250"/>
            <a:ext cx="8520600" cy="3339000"/>
          </a:xfrm>
          <a:prstGeom prst="rect">
            <a:avLst/>
          </a:prstGeom>
        </p:spPr>
        <p:txBody>
          <a:bodyPr spcFirstLastPara="1" wrap="square" lIns="91425" tIns="91425" rIns="91425" bIns="91425" anchor="t" anchorCtr="0">
            <a:normAutofit/>
          </a:bodyPr>
          <a:lstStyle/>
          <a:p>
            <a:pPr marL="0" lvl="0" indent="0" algn="just" rtl="0">
              <a:lnSpc>
                <a:spcPct val="150000"/>
              </a:lnSpc>
              <a:spcBef>
                <a:spcPts val="200"/>
              </a:spcBef>
              <a:spcAft>
                <a:spcPts val="0"/>
              </a:spcAft>
              <a:buNone/>
            </a:pPr>
            <a:r>
              <a:rPr lang="en-GB" sz="1700">
                <a:solidFill>
                  <a:srgbClr val="000000"/>
                </a:solidFill>
                <a:highlight>
                  <a:srgbClr val="FFFFFF"/>
                </a:highlight>
                <a:latin typeface="EB Garamond"/>
                <a:ea typeface="EB Garamond"/>
                <a:cs typeface="EB Garamond"/>
                <a:sym typeface="EB Garamond"/>
              </a:rPr>
              <a:t>Pre Processing</a:t>
            </a:r>
            <a:endParaRPr sz="1700">
              <a:solidFill>
                <a:srgbClr val="000000"/>
              </a:solidFill>
              <a:highlight>
                <a:srgbClr val="FFFFFF"/>
              </a:highlight>
              <a:latin typeface="EB Garamond"/>
              <a:ea typeface="EB Garamond"/>
              <a:cs typeface="EB Garamond"/>
              <a:sym typeface="EB Garamond"/>
            </a:endParaRPr>
          </a:p>
          <a:p>
            <a:pPr marL="914400" lvl="0" indent="0" algn="just" rtl="0">
              <a:lnSpc>
                <a:spcPct val="150000"/>
              </a:lnSpc>
              <a:spcBef>
                <a:spcPts val="200"/>
              </a:spcBef>
              <a:spcAft>
                <a:spcPts val="0"/>
              </a:spcAft>
              <a:buNone/>
            </a:pPr>
            <a:r>
              <a:rPr lang="en-GB" sz="1500">
                <a:solidFill>
                  <a:srgbClr val="000000"/>
                </a:solidFill>
                <a:latin typeface="EB Garamond"/>
                <a:ea typeface="EB Garamond"/>
                <a:cs typeface="EB Garamond"/>
                <a:sym typeface="EB Garamond"/>
              </a:rPr>
              <a:t>Defining geometry</a:t>
            </a:r>
            <a:endParaRPr sz="1500">
              <a:solidFill>
                <a:srgbClr val="000000"/>
              </a:solidFill>
              <a:latin typeface="EB Garamond"/>
              <a:ea typeface="EB Garamond"/>
              <a:cs typeface="EB Garamond"/>
              <a:sym typeface="EB Garamond"/>
            </a:endParaRPr>
          </a:p>
          <a:p>
            <a:pPr marL="0" lvl="0" indent="0" algn="just" rtl="0">
              <a:lnSpc>
                <a:spcPct val="150000"/>
              </a:lnSpc>
              <a:spcBef>
                <a:spcPts val="200"/>
              </a:spcBef>
              <a:spcAft>
                <a:spcPts val="0"/>
              </a:spcAft>
              <a:buNone/>
            </a:pPr>
            <a:endParaRPr sz="1700">
              <a:solidFill>
                <a:srgbClr val="000000"/>
              </a:solidFill>
              <a:highlight>
                <a:srgbClr val="FFFFFF"/>
              </a:highlight>
              <a:latin typeface="EB Garamond"/>
              <a:ea typeface="EB Garamond"/>
              <a:cs typeface="EB Garamond"/>
              <a:sym typeface="EB Garamond"/>
            </a:endParaRPr>
          </a:p>
          <a:p>
            <a:pPr marL="0" lvl="0" indent="0" algn="l" rtl="0">
              <a:spcBef>
                <a:spcPts val="0"/>
              </a:spcBef>
              <a:spcAft>
                <a:spcPts val="1200"/>
              </a:spcAft>
              <a:buNone/>
            </a:pPr>
            <a:endParaRPr/>
          </a:p>
        </p:txBody>
      </p:sp>
      <p:pic>
        <p:nvPicPr>
          <p:cNvPr id="169" name="Google Shape;169;p26"/>
          <p:cNvPicPr preferRelativeResize="0"/>
          <p:nvPr/>
        </p:nvPicPr>
        <p:blipFill>
          <a:blip r:embed="rId3">
            <a:alphaModFix/>
          </a:blip>
          <a:stretch>
            <a:fillRect/>
          </a:stretch>
        </p:blipFill>
        <p:spPr>
          <a:xfrm>
            <a:off x="2544700" y="1816175"/>
            <a:ext cx="4155975" cy="2276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a:spLocks noGrp="1"/>
          </p:cNvSpPr>
          <p:nvPr>
            <p:ph type="body" idx="1"/>
          </p:nvPr>
        </p:nvSpPr>
        <p:spPr>
          <a:xfrm>
            <a:off x="311700" y="533925"/>
            <a:ext cx="8520600" cy="3339000"/>
          </a:xfrm>
          <a:prstGeom prst="rect">
            <a:avLst/>
          </a:prstGeom>
        </p:spPr>
        <p:txBody>
          <a:bodyPr spcFirstLastPara="1" wrap="square" lIns="91425" tIns="91425" rIns="91425" bIns="91425" anchor="t" anchorCtr="0">
            <a:normAutofit/>
          </a:bodyPr>
          <a:lstStyle/>
          <a:p>
            <a:pPr marL="457200" lvl="0" indent="0" algn="just" rtl="0">
              <a:lnSpc>
                <a:spcPct val="107916"/>
              </a:lnSpc>
              <a:spcBef>
                <a:spcPts val="0"/>
              </a:spcBef>
              <a:spcAft>
                <a:spcPts val="0"/>
              </a:spcAft>
              <a:buNone/>
            </a:pPr>
            <a:r>
              <a:rPr lang="en-GB" sz="1500">
                <a:solidFill>
                  <a:srgbClr val="000000"/>
                </a:solidFill>
                <a:highlight>
                  <a:srgbClr val="FFFFFF"/>
                </a:highlight>
                <a:latin typeface="EB Garamond"/>
                <a:ea typeface="EB Garamond"/>
                <a:cs typeface="EB Garamond"/>
                <a:sym typeface="EB Garamond"/>
              </a:rPr>
              <a:t>Assigning Material Properties</a:t>
            </a:r>
            <a:endParaRPr sz="1500">
              <a:solidFill>
                <a:srgbClr val="000000"/>
              </a:solidFill>
              <a:highlight>
                <a:srgbClr val="FFFFFF"/>
              </a:highlight>
              <a:latin typeface="EB Garamond"/>
              <a:ea typeface="EB Garamond"/>
              <a:cs typeface="EB Garamond"/>
              <a:sym typeface="EB Garamond"/>
            </a:endParaRPr>
          </a:p>
          <a:p>
            <a:pPr marL="457200" lvl="0" indent="0" algn="just" rtl="0">
              <a:lnSpc>
                <a:spcPct val="107916"/>
              </a:lnSpc>
              <a:spcBef>
                <a:spcPts val="800"/>
              </a:spcBef>
              <a:spcAft>
                <a:spcPts val="0"/>
              </a:spcAft>
              <a:buNone/>
            </a:pPr>
            <a:r>
              <a:rPr lang="en-GB" sz="1400">
                <a:solidFill>
                  <a:srgbClr val="000000"/>
                </a:solidFill>
                <a:highlight>
                  <a:srgbClr val="FFFFFF"/>
                </a:highlight>
                <a:latin typeface="EB Garamond"/>
                <a:ea typeface="EB Garamond"/>
                <a:cs typeface="EB Garamond"/>
                <a:sym typeface="EB Garamond"/>
              </a:rPr>
              <a:t>	</a:t>
            </a:r>
            <a:r>
              <a:rPr lang="en-GB" sz="1400">
                <a:solidFill>
                  <a:srgbClr val="000000"/>
                </a:solidFill>
                <a:latin typeface="EB Garamond"/>
                <a:ea typeface="EB Garamond"/>
                <a:cs typeface="EB Garamond"/>
                <a:sym typeface="EB Garamond"/>
              </a:rPr>
              <a:t>The material used  for the lifting mechanism is mild-steel for all the parts in the model. </a:t>
            </a:r>
            <a:endParaRPr sz="1400">
              <a:solidFill>
                <a:srgbClr val="000000"/>
              </a:solidFill>
              <a:latin typeface="EB Garamond"/>
              <a:ea typeface="EB Garamond"/>
              <a:cs typeface="EB Garamond"/>
              <a:sym typeface="EB Garamond"/>
            </a:endParaRPr>
          </a:p>
          <a:p>
            <a:pPr marL="457200" lvl="0" indent="0" algn="just" rtl="0">
              <a:lnSpc>
                <a:spcPct val="107916"/>
              </a:lnSpc>
              <a:spcBef>
                <a:spcPts val="800"/>
              </a:spcBef>
              <a:spcAft>
                <a:spcPts val="0"/>
              </a:spcAft>
              <a:buNone/>
            </a:pPr>
            <a:endParaRPr sz="1500">
              <a:solidFill>
                <a:srgbClr val="000000"/>
              </a:solidFill>
              <a:highlight>
                <a:srgbClr val="FFFFFF"/>
              </a:highlight>
              <a:latin typeface="EB Garamond"/>
              <a:ea typeface="EB Garamond"/>
              <a:cs typeface="EB Garamond"/>
              <a:sym typeface="EB Garamond"/>
            </a:endParaRPr>
          </a:p>
          <a:p>
            <a:pPr marL="0" lvl="0" indent="0" algn="l" rtl="0">
              <a:spcBef>
                <a:spcPts val="800"/>
              </a:spcBef>
              <a:spcAft>
                <a:spcPts val="1200"/>
              </a:spcAft>
              <a:buNone/>
            </a:pPr>
            <a:endParaRPr/>
          </a:p>
        </p:txBody>
      </p:sp>
      <p:pic>
        <p:nvPicPr>
          <p:cNvPr id="175" name="Google Shape;175;p27"/>
          <p:cNvPicPr preferRelativeResize="0"/>
          <p:nvPr/>
        </p:nvPicPr>
        <p:blipFill>
          <a:blip r:embed="rId3">
            <a:alphaModFix/>
          </a:blip>
          <a:stretch>
            <a:fillRect/>
          </a:stretch>
        </p:blipFill>
        <p:spPr>
          <a:xfrm>
            <a:off x="1283300" y="1392050"/>
            <a:ext cx="5678349" cy="2690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8"/>
          <p:cNvSpPr txBox="1">
            <a:spLocks noGrp="1"/>
          </p:cNvSpPr>
          <p:nvPr>
            <p:ph type="body" idx="1"/>
          </p:nvPr>
        </p:nvSpPr>
        <p:spPr>
          <a:xfrm>
            <a:off x="246450" y="283825"/>
            <a:ext cx="8520600" cy="3339000"/>
          </a:xfrm>
          <a:prstGeom prst="rect">
            <a:avLst/>
          </a:prstGeom>
        </p:spPr>
        <p:txBody>
          <a:bodyPr spcFirstLastPara="1" wrap="square" lIns="91425" tIns="91425" rIns="91425" bIns="91425" anchor="t" anchorCtr="0">
            <a:normAutofit/>
          </a:bodyPr>
          <a:lstStyle/>
          <a:p>
            <a:pPr marL="457200" lvl="0" indent="0" algn="l" rtl="0">
              <a:lnSpc>
                <a:spcPct val="150000"/>
              </a:lnSpc>
              <a:spcBef>
                <a:spcPts val="200"/>
              </a:spcBef>
              <a:spcAft>
                <a:spcPts val="0"/>
              </a:spcAft>
              <a:buNone/>
            </a:pPr>
            <a:r>
              <a:rPr lang="en-GB" sz="1500">
                <a:solidFill>
                  <a:srgbClr val="000000"/>
                </a:solidFill>
                <a:highlight>
                  <a:srgbClr val="FFFFFF"/>
                </a:highlight>
                <a:latin typeface="EB Garamond"/>
                <a:ea typeface="EB Garamond"/>
                <a:cs typeface="EB Garamond"/>
                <a:sym typeface="EB Garamond"/>
              </a:rPr>
              <a:t>Applying Loads</a:t>
            </a:r>
            <a:endParaRPr sz="1500">
              <a:solidFill>
                <a:srgbClr val="000000"/>
              </a:solidFill>
              <a:highlight>
                <a:srgbClr val="FFFFFF"/>
              </a:highlight>
              <a:latin typeface="EB Garamond"/>
              <a:ea typeface="EB Garamond"/>
              <a:cs typeface="EB Garamond"/>
              <a:sym typeface="EB Garamond"/>
            </a:endParaRPr>
          </a:p>
          <a:p>
            <a:pPr marL="0" lvl="0" indent="0" algn="l" rtl="0">
              <a:spcBef>
                <a:spcPts val="0"/>
              </a:spcBef>
              <a:spcAft>
                <a:spcPts val="1200"/>
              </a:spcAft>
              <a:buNone/>
            </a:pPr>
            <a:endParaRPr sz="1500">
              <a:latin typeface="EB Garamond"/>
              <a:ea typeface="EB Garamond"/>
              <a:cs typeface="EB Garamond"/>
              <a:sym typeface="EB Garamond"/>
            </a:endParaRPr>
          </a:p>
        </p:txBody>
      </p:sp>
      <p:pic>
        <p:nvPicPr>
          <p:cNvPr id="181" name="Google Shape;181;p28"/>
          <p:cNvPicPr preferRelativeResize="0"/>
          <p:nvPr/>
        </p:nvPicPr>
        <p:blipFill>
          <a:blip r:embed="rId3">
            <a:alphaModFix/>
          </a:blip>
          <a:stretch>
            <a:fillRect/>
          </a:stretch>
        </p:blipFill>
        <p:spPr>
          <a:xfrm>
            <a:off x="1738313" y="715238"/>
            <a:ext cx="5667375" cy="3343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9"/>
          <p:cNvSpPr txBox="1">
            <a:spLocks noGrp="1"/>
          </p:cNvSpPr>
          <p:nvPr>
            <p:ph type="body" idx="1"/>
          </p:nvPr>
        </p:nvSpPr>
        <p:spPr>
          <a:xfrm>
            <a:off x="311700" y="414325"/>
            <a:ext cx="8520600" cy="3339000"/>
          </a:xfrm>
          <a:prstGeom prst="rect">
            <a:avLst/>
          </a:prstGeom>
        </p:spPr>
        <p:txBody>
          <a:bodyPr spcFirstLastPara="1" wrap="square" lIns="91425" tIns="91425" rIns="91425" bIns="91425" anchor="t" anchorCtr="0">
            <a:normAutofit/>
          </a:bodyPr>
          <a:lstStyle/>
          <a:p>
            <a:pPr marL="457200" lvl="0" indent="0" algn="l" rtl="0">
              <a:lnSpc>
                <a:spcPct val="150000"/>
              </a:lnSpc>
              <a:spcBef>
                <a:spcPts val="200"/>
              </a:spcBef>
              <a:spcAft>
                <a:spcPts val="0"/>
              </a:spcAft>
              <a:buNone/>
            </a:pPr>
            <a:r>
              <a:rPr lang="en-GB" sz="1500">
                <a:solidFill>
                  <a:srgbClr val="000000"/>
                </a:solidFill>
                <a:latin typeface="EB Garamond"/>
                <a:ea typeface="EB Garamond"/>
                <a:cs typeface="EB Garamond"/>
                <a:sym typeface="EB Garamond"/>
              </a:rPr>
              <a:t>Mesh</a:t>
            </a:r>
            <a:endParaRPr sz="1500">
              <a:solidFill>
                <a:srgbClr val="000000"/>
              </a:solidFill>
              <a:latin typeface="EB Garamond"/>
              <a:ea typeface="EB Garamond"/>
              <a:cs typeface="EB Garamond"/>
              <a:sym typeface="EB Garamond"/>
            </a:endParaRPr>
          </a:p>
          <a:p>
            <a:pPr marL="0" lvl="0" indent="0" algn="l" rtl="0">
              <a:spcBef>
                <a:spcPts val="0"/>
              </a:spcBef>
              <a:spcAft>
                <a:spcPts val="1200"/>
              </a:spcAft>
              <a:buNone/>
            </a:pPr>
            <a:endParaRPr sz="1500">
              <a:latin typeface="EB Garamond"/>
              <a:ea typeface="EB Garamond"/>
              <a:cs typeface="EB Garamond"/>
              <a:sym typeface="EB Garamond"/>
            </a:endParaRPr>
          </a:p>
        </p:txBody>
      </p:sp>
      <p:pic>
        <p:nvPicPr>
          <p:cNvPr id="187" name="Google Shape;187;p29"/>
          <p:cNvPicPr preferRelativeResize="0"/>
          <p:nvPr/>
        </p:nvPicPr>
        <p:blipFill>
          <a:blip r:embed="rId3">
            <a:alphaModFix/>
          </a:blip>
          <a:stretch>
            <a:fillRect/>
          </a:stretch>
        </p:blipFill>
        <p:spPr>
          <a:xfrm>
            <a:off x="2022775" y="935350"/>
            <a:ext cx="4580050" cy="2905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0"/>
          <p:cNvSpPr txBox="1">
            <a:spLocks noGrp="1"/>
          </p:cNvSpPr>
          <p:nvPr>
            <p:ph type="title"/>
          </p:nvPr>
        </p:nvSpPr>
        <p:spPr>
          <a:xfrm>
            <a:off x="311700" y="214250"/>
            <a:ext cx="8520600" cy="607800"/>
          </a:xfrm>
          <a:prstGeom prst="rect">
            <a:avLst/>
          </a:prstGeom>
        </p:spPr>
        <p:txBody>
          <a:bodyPr spcFirstLastPara="1" wrap="square" lIns="91425" tIns="91425" rIns="91425" bIns="91425" anchor="t" anchorCtr="0">
            <a:noAutofit/>
          </a:bodyPr>
          <a:lstStyle/>
          <a:p>
            <a:pPr marL="0" lvl="0" indent="0" algn="just" rtl="0">
              <a:lnSpc>
                <a:spcPct val="107916"/>
              </a:lnSpc>
              <a:spcBef>
                <a:spcPts val="0"/>
              </a:spcBef>
              <a:spcAft>
                <a:spcPts val="0"/>
              </a:spcAft>
              <a:buNone/>
            </a:pPr>
            <a:r>
              <a:rPr lang="en-GB" sz="2400" b="1">
                <a:solidFill>
                  <a:srgbClr val="000000"/>
                </a:solidFill>
                <a:latin typeface="EB Garamond"/>
                <a:ea typeface="EB Garamond"/>
                <a:cs typeface="EB Garamond"/>
                <a:sym typeface="EB Garamond"/>
              </a:rPr>
              <a:t>Post Processing</a:t>
            </a:r>
            <a:endParaRPr sz="2400" b="1">
              <a:solidFill>
                <a:srgbClr val="000000"/>
              </a:solidFill>
              <a:latin typeface="EB Garamond"/>
              <a:ea typeface="EB Garamond"/>
              <a:cs typeface="EB Garamond"/>
              <a:sym typeface="EB Garamond"/>
            </a:endParaRPr>
          </a:p>
          <a:p>
            <a:pPr marL="0" lvl="0" indent="0" algn="l" rtl="0">
              <a:spcBef>
                <a:spcPts val="800"/>
              </a:spcBef>
              <a:spcAft>
                <a:spcPts val="0"/>
              </a:spcAft>
              <a:buNone/>
            </a:pPr>
            <a:endParaRPr/>
          </a:p>
        </p:txBody>
      </p:sp>
      <p:sp>
        <p:nvSpPr>
          <p:cNvPr id="193" name="Google Shape;193;p30"/>
          <p:cNvSpPr txBox="1">
            <a:spLocks noGrp="1"/>
          </p:cNvSpPr>
          <p:nvPr>
            <p:ph type="body" idx="1"/>
          </p:nvPr>
        </p:nvSpPr>
        <p:spPr>
          <a:xfrm>
            <a:off x="311700" y="767700"/>
            <a:ext cx="8520600" cy="3339000"/>
          </a:xfrm>
          <a:prstGeom prst="rect">
            <a:avLst/>
          </a:prstGeom>
        </p:spPr>
        <p:txBody>
          <a:bodyPr spcFirstLastPara="1" wrap="square" lIns="91425" tIns="91425" rIns="91425" bIns="91425" anchor="t" anchorCtr="0">
            <a:normAutofit/>
          </a:bodyPr>
          <a:lstStyle/>
          <a:p>
            <a:pPr marL="457200" lvl="0" indent="0" algn="just" rtl="0">
              <a:lnSpc>
                <a:spcPct val="107916"/>
              </a:lnSpc>
              <a:spcBef>
                <a:spcPts val="0"/>
              </a:spcBef>
              <a:spcAft>
                <a:spcPts val="0"/>
              </a:spcAft>
              <a:buNone/>
            </a:pPr>
            <a:r>
              <a:rPr lang="en-GB" sz="1700">
                <a:solidFill>
                  <a:srgbClr val="000000"/>
                </a:solidFill>
                <a:latin typeface="EB Garamond"/>
                <a:ea typeface="EB Garamond"/>
                <a:cs typeface="EB Garamond"/>
                <a:sym typeface="EB Garamond"/>
              </a:rPr>
              <a:t>Results</a:t>
            </a:r>
            <a:endParaRPr sz="1700">
              <a:solidFill>
                <a:srgbClr val="000000"/>
              </a:solidFill>
              <a:latin typeface="EB Garamond"/>
              <a:ea typeface="EB Garamond"/>
              <a:cs typeface="EB Garamond"/>
              <a:sym typeface="EB Garamond"/>
            </a:endParaRPr>
          </a:p>
          <a:p>
            <a:pPr marL="457200" lvl="0" indent="0" algn="l" rtl="0">
              <a:lnSpc>
                <a:spcPct val="150000"/>
              </a:lnSpc>
              <a:spcBef>
                <a:spcPts val="800"/>
              </a:spcBef>
              <a:spcAft>
                <a:spcPts val="0"/>
              </a:spcAft>
              <a:buNone/>
            </a:pPr>
            <a:r>
              <a:rPr lang="en-GB" sz="1400">
                <a:solidFill>
                  <a:srgbClr val="000000"/>
                </a:solidFill>
                <a:latin typeface="EB Garamond"/>
                <a:ea typeface="EB Garamond"/>
                <a:cs typeface="EB Garamond"/>
                <a:sym typeface="EB Garamond"/>
              </a:rPr>
              <a:t>Case 1 Stress</a:t>
            </a:r>
            <a:endParaRPr sz="1400">
              <a:solidFill>
                <a:srgbClr val="000000"/>
              </a:solidFill>
              <a:latin typeface="EB Garamond"/>
              <a:ea typeface="EB Garamond"/>
              <a:cs typeface="EB Garamond"/>
              <a:sym typeface="EB Garamond"/>
            </a:endParaRPr>
          </a:p>
          <a:p>
            <a:pPr marL="457200" lvl="0" indent="0" algn="l" rtl="0">
              <a:lnSpc>
                <a:spcPct val="150000"/>
              </a:lnSpc>
              <a:spcBef>
                <a:spcPts val="600"/>
              </a:spcBef>
              <a:spcAft>
                <a:spcPts val="0"/>
              </a:spcAft>
              <a:buNone/>
            </a:pPr>
            <a:endParaRPr sz="1400">
              <a:solidFill>
                <a:srgbClr val="000000"/>
              </a:solidFill>
              <a:latin typeface="EB Garamond"/>
              <a:ea typeface="EB Garamond"/>
              <a:cs typeface="EB Garamond"/>
              <a:sym typeface="EB Garamond"/>
            </a:endParaRPr>
          </a:p>
          <a:p>
            <a:pPr marL="457200" lvl="0" indent="0" algn="just" rtl="0">
              <a:lnSpc>
                <a:spcPct val="107916"/>
              </a:lnSpc>
              <a:spcBef>
                <a:spcPts val="600"/>
              </a:spcBef>
              <a:spcAft>
                <a:spcPts val="800"/>
              </a:spcAft>
              <a:buNone/>
            </a:pPr>
            <a:endParaRPr sz="1700">
              <a:solidFill>
                <a:srgbClr val="000000"/>
              </a:solidFill>
              <a:latin typeface="EB Garamond"/>
              <a:ea typeface="EB Garamond"/>
              <a:cs typeface="EB Garamond"/>
              <a:sym typeface="EB Garamond"/>
            </a:endParaRPr>
          </a:p>
        </p:txBody>
      </p:sp>
      <p:pic>
        <p:nvPicPr>
          <p:cNvPr id="194" name="Google Shape;194;p30"/>
          <p:cNvPicPr preferRelativeResize="0"/>
          <p:nvPr/>
        </p:nvPicPr>
        <p:blipFill>
          <a:blip r:embed="rId3">
            <a:alphaModFix/>
          </a:blip>
          <a:stretch>
            <a:fillRect/>
          </a:stretch>
        </p:blipFill>
        <p:spPr>
          <a:xfrm>
            <a:off x="2457725" y="1272425"/>
            <a:ext cx="4438650" cy="2781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1"/>
          <p:cNvSpPr txBox="1">
            <a:spLocks noGrp="1"/>
          </p:cNvSpPr>
          <p:nvPr>
            <p:ph type="body" idx="1"/>
          </p:nvPr>
        </p:nvSpPr>
        <p:spPr>
          <a:xfrm>
            <a:off x="311700" y="707925"/>
            <a:ext cx="8520600" cy="3339000"/>
          </a:xfrm>
          <a:prstGeom prst="rect">
            <a:avLst/>
          </a:prstGeom>
        </p:spPr>
        <p:txBody>
          <a:bodyPr spcFirstLastPara="1" wrap="square" lIns="91425" tIns="91425" rIns="91425" bIns="91425" anchor="t" anchorCtr="0">
            <a:normAutofit/>
          </a:bodyPr>
          <a:lstStyle/>
          <a:p>
            <a:pPr marL="457200" lvl="0" indent="0" algn="l"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Case 1 Displacement</a:t>
            </a:r>
            <a:endParaRPr sz="1400">
              <a:solidFill>
                <a:srgbClr val="000000"/>
              </a:solidFill>
              <a:latin typeface="EB Garamond"/>
              <a:ea typeface="EB Garamond"/>
              <a:cs typeface="EB Garamond"/>
              <a:sym typeface="EB Garamond"/>
            </a:endParaRPr>
          </a:p>
          <a:p>
            <a:pPr marL="0" lvl="0" indent="0" algn="l" rtl="0">
              <a:spcBef>
                <a:spcPts val="600"/>
              </a:spcBef>
              <a:spcAft>
                <a:spcPts val="1200"/>
              </a:spcAft>
              <a:buNone/>
            </a:pPr>
            <a:endParaRPr/>
          </a:p>
        </p:txBody>
      </p:sp>
      <p:pic>
        <p:nvPicPr>
          <p:cNvPr id="200" name="Google Shape;200;p31"/>
          <p:cNvPicPr preferRelativeResize="0"/>
          <p:nvPr/>
        </p:nvPicPr>
        <p:blipFill>
          <a:blip r:embed="rId3">
            <a:alphaModFix/>
          </a:blip>
          <a:stretch>
            <a:fillRect/>
          </a:stretch>
        </p:blipFill>
        <p:spPr>
          <a:xfrm>
            <a:off x="2436025" y="1315925"/>
            <a:ext cx="4429125" cy="2657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2"/>
          <p:cNvSpPr txBox="1">
            <a:spLocks noGrp="1"/>
          </p:cNvSpPr>
          <p:nvPr>
            <p:ph type="body" idx="1"/>
          </p:nvPr>
        </p:nvSpPr>
        <p:spPr>
          <a:xfrm>
            <a:off x="268200" y="501325"/>
            <a:ext cx="8520600" cy="3339000"/>
          </a:xfrm>
          <a:prstGeom prst="rect">
            <a:avLst/>
          </a:prstGeom>
        </p:spPr>
        <p:txBody>
          <a:bodyPr spcFirstLastPara="1" wrap="square" lIns="91425" tIns="91425" rIns="91425" bIns="91425" anchor="t" anchorCtr="0">
            <a:normAutofit/>
          </a:bodyPr>
          <a:lstStyle/>
          <a:p>
            <a:pPr marL="457200" lvl="0" indent="0" algn="l"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 Case 1 Strain</a:t>
            </a:r>
            <a:endParaRPr sz="1400">
              <a:solidFill>
                <a:srgbClr val="000000"/>
              </a:solidFill>
              <a:latin typeface="EB Garamond"/>
              <a:ea typeface="EB Garamond"/>
              <a:cs typeface="EB Garamond"/>
              <a:sym typeface="EB Garamond"/>
            </a:endParaRPr>
          </a:p>
          <a:p>
            <a:pPr marL="0" lvl="0" indent="0" algn="l" rtl="0">
              <a:spcBef>
                <a:spcPts val="600"/>
              </a:spcBef>
              <a:spcAft>
                <a:spcPts val="1200"/>
              </a:spcAft>
              <a:buNone/>
            </a:pPr>
            <a:endParaRPr/>
          </a:p>
        </p:txBody>
      </p:sp>
      <p:pic>
        <p:nvPicPr>
          <p:cNvPr id="206" name="Google Shape;206;p32"/>
          <p:cNvPicPr preferRelativeResize="0"/>
          <p:nvPr/>
        </p:nvPicPr>
        <p:blipFill>
          <a:blip r:embed="rId3">
            <a:alphaModFix/>
          </a:blip>
          <a:stretch>
            <a:fillRect/>
          </a:stretch>
        </p:blipFill>
        <p:spPr>
          <a:xfrm>
            <a:off x="1924900" y="989725"/>
            <a:ext cx="4695825" cy="2933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3"/>
          <p:cNvSpPr txBox="1">
            <a:spLocks noGrp="1"/>
          </p:cNvSpPr>
          <p:nvPr>
            <p:ph type="body" idx="1"/>
          </p:nvPr>
        </p:nvSpPr>
        <p:spPr>
          <a:xfrm>
            <a:off x="311700" y="544800"/>
            <a:ext cx="8520600" cy="3754800"/>
          </a:xfrm>
          <a:prstGeom prst="rect">
            <a:avLst/>
          </a:prstGeom>
        </p:spPr>
        <p:txBody>
          <a:bodyPr spcFirstLastPara="1" wrap="square" lIns="91425" tIns="91425" rIns="91425" bIns="91425" anchor="t" anchorCtr="0">
            <a:normAutofit/>
          </a:bodyPr>
          <a:lstStyle/>
          <a:p>
            <a:pPr marL="457200" lvl="0" indent="0" algn="l"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 Case 1 FOS</a:t>
            </a:r>
            <a:endParaRPr sz="1400">
              <a:solidFill>
                <a:srgbClr val="000000"/>
              </a:solidFill>
              <a:latin typeface="EB Garamond"/>
              <a:ea typeface="EB Garamond"/>
              <a:cs typeface="EB Garamond"/>
              <a:sym typeface="EB Garamond"/>
            </a:endParaRPr>
          </a:p>
          <a:p>
            <a:pPr marL="0" lvl="0" indent="0" algn="l" rtl="0">
              <a:spcBef>
                <a:spcPts val="600"/>
              </a:spcBef>
              <a:spcAft>
                <a:spcPts val="1200"/>
              </a:spcAft>
              <a:buNone/>
            </a:pPr>
            <a:endParaRPr/>
          </a:p>
        </p:txBody>
      </p:sp>
      <p:pic>
        <p:nvPicPr>
          <p:cNvPr id="212" name="Google Shape;212;p33"/>
          <p:cNvPicPr preferRelativeResize="0"/>
          <p:nvPr/>
        </p:nvPicPr>
        <p:blipFill>
          <a:blip r:embed="rId3">
            <a:alphaModFix/>
          </a:blip>
          <a:stretch>
            <a:fillRect/>
          </a:stretch>
        </p:blipFill>
        <p:spPr>
          <a:xfrm>
            <a:off x="2050013" y="978850"/>
            <a:ext cx="4848225" cy="30575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4"/>
          <p:cNvSpPr txBox="1">
            <a:spLocks noGrp="1"/>
          </p:cNvSpPr>
          <p:nvPr>
            <p:ph type="title"/>
          </p:nvPr>
        </p:nvSpPr>
        <p:spPr>
          <a:xfrm>
            <a:off x="235600" y="301250"/>
            <a:ext cx="8520600" cy="607800"/>
          </a:xfrm>
          <a:prstGeom prst="rect">
            <a:avLst/>
          </a:prstGeom>
        </p:spPr>
        <p:txBody>
          <a:bodyPr spcFirstLastPara="1" wrap="square" lIns="91425" tIns="91425" rIns="91425" bIns="91425" anchor="t" anchorCtr="0">
            <a:noAutofit/>
          </a:bodyPr>
          <a:lstStyle/>
          <a:p>
            <a:pPr marL="0" lvl="0" indent="0" algn="just" rtl="0">
              <a:lnSpc>
                <a:spcPct val="107916"/>
              </a:lnSpc>
              <a:spcBef>
                <a:spcPts val="0"/>
              </a:spcBef>
              <a:spcAft>
                <a:spcPts val="0"/>
              </a:spcAft>
              <a:buNone/>
            </a:pPr>
            <a:r>
              <a:rPr lang="en-GB" sz="2400" b="1">
                <a:solidFill>
                  <a:srgbClr val="000000"/>
                </a:solidFill>
                <a:latin typeface="EB Garamond"/>
                <a:ea typeface="EB Garamond"/>
                <a:cs typeface="EB Garamond"/>
                <a:sym typeface="EB Garamond"/>
              </a:rPr>
              <a:t>Analysis Case 2</a:t>
            </a:r>
            <a:endParaRPr sz="2400" b="1">
              <a:solidFill>
                <a:srgbClr val="000000"/>
              </a:solidFill>
              <a:latin typeface="EB Garamond"/>
              <a:ea typeface="EB Garamond"/>
              <a:cs typeface="EB Garamond"/>
              <a:sym typeface="EB Garamond"/>
            </a:endParaRPr>
          </a:p>
          <a:p>
            <a:pPr marL="0" lvl="0" indent="0" algn="l" rtl="0">
              <a:spcBef>
                <a:spcPts val="800"/>
              </a:spcBef>
              <a:spcAft>
                <a:spcPts val="0"/>
              </a:spcAft>
              <a:buNone/>
            </a:pPr>
            <a:endParaRPr/>
          </a:p>
        </p:txBody>
      </p:sp>
      <p:sp>
        <p:nvSpPr>
          <p:cNvPr id="218" name="Google Shape;218;p34"/>
          <p:cNvSpPr txBox="1">
            <a:spLocks noGrp="1"/>
          </p:cNvSpPr>
          <p:nvPr>
            <p:ph type="body" idx="1"/>
          </p:nvPr>
        </p:nvSpPr>
        <p:spPr>
          <a:xfrm>
            <a:off x="235600" y="794900"/>
            <a:ext cx="8520600" cy="3339000"/>
          </a:xfrm>
          <a:prstGeom prst="rect">
            <a:avLst/>
          </a:prstGeom>
        </p:spPr>
        <p:txBody>
          <a:bodyPr spcFirstLastPara="1" wrap="square" lIns="91425" tIns="91425" rIns="91425" bIns="91425" anchor="t" anchorCtr="0">
            <a:normAutofit/>
          </a:bodyPr>
          <a:lstStyle/>
          <a:p>
            <a:pPr marL="0" lvl="0" indent="457200" algn="just" rtl="0">
              <a:lnSpc>
                <a:spcPct val="150000"/>
              </a:lnSpc>
              <a:spcBef>
                <a:spcPts val="200"/>
              </a:spcBef>
              <a:spcAft>
                <a:spcPts val="0"/>
              </a:spcAft>
              <a:buNone/>
            </a:pPr>
            <a:r>
              <a:rPr lang="en-GB" sz="1700">
                <a:solidFill>
                  <a:srgbClr val="000000"/>
                </a:solidFill>
                <a:latin typeface="EB Garamond"/>
                <a:ea typeface="EB Garamond"/>
                <a:cs typeface="EB Garamond"/>
                <a:sym typeface="EB Garamond"/>
              </a:rPr>
              <a:t>Pre Processing</a:t>
            </a:r>
            <a:endParaRPr sz="1700">
              <a:solidFill>
                <a:srgbClr val="000000"/>
              </a:solidFill>
              <a:latin typeface="EB Garamond"/>
              <a:ea typeface="EB Garamond"/>
              <a:cs typeface="EB Garamond"/>
              <a:sym typeface="EB Garamond"/>
            </a:endParaRPr>
          </a:p>
          <a:p>
            <a:pPr marL="0" lvl="0" indent="457200" algn="just" rtl="0">
              <a:lnSpc>
                <a:spcPct val="150000"/>
              </a:lnSpc>
              <a:spcBef>
                <a:spcPts val="200"/>
              </a:spcBef>
              <a:spcAft>
                <a:spcPts val="0"/>
              </a:spcAft>
              <a:buNone/>
            </a:pPr>
            <a:r>
              <a:rPr lang="en-GB" sz="1400">
                <a:solidFill>
                  <a:srgbClr val="000000"/>
                </a:solidFill>
                <a:latin typeface="EB Garamond"/>
                <a:ea typeface="EB Garamond"/>
                <a:cs typeface="EB Garamond"/>
                <a:sym typeface="EB Garamond"/>
              </a:rPr>
              <a:t>Defining geometry</a:t>
            </a:r>
            <a:endParaRPr sz="1400">
              <a:solidFill>
                <a:srgbClr val="000000"/>
              </a:solidFill>
              <a:latin typeface="EB Garamond"/>
              <a:ea typeface="EB Garamond"/>
              <a:cs typeface="EB Garamond"/>
              <a:sym typeface="EB Garamond"/>
            </a:endParaRPr>
          </a:p>
          <a:p>
            <a:pPr marL="0" lvl="0" indent="0" algn="l" rtl="0">
              <a:spcBef>
                <a:spcPts val="0"/>
              </a:spcBef>
              <a:spcAft>
                <a:spcPts val="1200"/>
              </a:spcAft>
              <a:buNone/>
            </a:pPr>
            <a:endParaRPr/>
          </a:p>
        </p:txBody>
      </p:sp>
      <p:pic>
        <p:nvPicPr>
          <p:cNvPr id="219" name="Google Shape;219;p34"/>
          <p:cNvPicPr preferRelativeResize="0"/>
          <p:nvPr/>
        </p:nvPicPr>
        <p:blipFill>
          <a:blip r:embed="rId3">
            <a:alphaModFix/>
          </a:blip>
          <a:stretch>
            <a:fillRect/>
          </a:stretch>
        </p:blipFill>
        <p:spPr>
          <a:xfrm>
            <a:off x="2305150" y="1374200"/>
            <a:ext cx="4381500" cy="2933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5"/>
          <p:cNvSpPr txBox="1">
            <a:spLocks noGrp="1"/>
          </p:cNvSpPr>
          <p:nvPr>
            <p:ph type="body" idx="1"/>
          </p:nvPr>
        </p:nvSpPr>
        <p:spPr>
          <a:xfrm>
            <a:off x="311700" y="196825"/>
            <a:ext cx="8520600" cy="3339000"/>
          </a:xfrm>
          <a:prstGeom prst="rect">
            <a:avLst/>
          </a:prstGeom>
        </p:spPr>
        <p:txBody>
          <a:bodyPr spcFirstLastPara="1" wrap="square" lIns="91425" tIns="91425" rIns="91425" bIns="91425" anchor="t" anchorCtr="0">
            <a:normAutofit/>
          </a:bodyPr>
          <a:lstStyle/>
          <a:p>
            <a:pPr marL="0" lvl="0" indent="457200" algn="l" rtl="0">
              <a:lnSpc>
                <a:spcPct val="150000"/>
              </a:lnSpc>
              <a:spcBef>
                <a:spcPts val="200"/>
              </a:spcBef>
              <a:spcAft>
                <a:spcPts val="0"/>
              </a:spcAft>
              <a:buNone/>
            </a:pPr>
            <a:r>
              <a:rPr lang="en-GB" sz="1700">
                <a:solidFill>
                  <a:srgbClr val="000000"/>
                </a:solidFill>
                <a:latin typeface="EB Garamond"/>
                <a:ea typeface="EB Garamond"/>
                <a:cs typeface="EB Garamond"/>
                <a:sym typeface="EB Garamond"/>
              </a:rPr>
              <a:t>Applying Loads</a:t>
            </a:r>
            <a:endParaRPr sz="1700">
              <a:solidFill>
                <a:srgbClr val="000000"/>
              </a:solidFill>
              <a:latin typeface="EB Garamond"/>
              <a:ea typeface="EB Garamond"/>
              <a:cs typeface="EB Garamond"/>
              <a:sym typeface="EB Garamond"/>
            </a:endParaRPr>
          </a:p>
          <a:p>
            <a:pPr marL="0" lvl="0" indent="0" algn="l" rtl="0">
              <a:spcBef>
                <a:spcPts val="0"/>
              </a:spcBef>
              <a:spcAft>
                <a:spcPts val="1200"/>
              </a:spcAft>
              <a:buNone/>
            </a:pPr>
            <a:endParaRPr sz="1400">
              <a:latin typeface="EB Garamond"/>
              <a:ea typeface="EB Garamond"/>
              <a:cs typeface="EB Garamond"/>
              <a:sym typeface="EB Garamond"/>
            </a:endParaRPr>
          </a:p>
        </p:txBody>
      </p:sp>
      <p:pic>
        <p:nvPicPr>
          <p:cNvPr id="225" name="Google Shape;225;p35"/>
          <p:cNvPicPr preferRelativeResize="0"/>
          <p:nvPr/>
        </p:nvPicPr>
        <p:blipFill>
          <a:blip r:embed="rId3">
            <a:alphaModFix/>
          </a:blip>
          <a:stretch>
            <a:fillRect/>
          </a:stretch>
        </p:blipFill>
        <p:spPr>
          <a:xfrm>
            <a:off x="1795450" y="515450"/>
            <a:ext cx="5553075" cy="3286125"/>
          </a:xfrm>
          <a:prstGeom prst="rect">
            <a:avLst/>
          </a:prstGeom>
          <a:noFill/>
          <a:ln>
            <a:noFill/>
          </a:ln>
        </p:spPr>
      </p:pic>
      <p:sp>
        <p:nvSpPr>
          <p:cNvPr id="226" name="Google Shape;226;p35"/>
          <p:cNvSpPr txBox="1"/>
          <p:nvPr/>
        </p:nvSpPr>
        <p:spPr>
          <a:xfrm>
            <a:off x="1464400" y="3801575"/>
            <a:ext cx="6341700" cy="8004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600"/>
              </a:spcBef>
              <a:spcAft>
                <a:spcPts val="0"/>
              </a:spcAft>
              <a:buNone/>
            </a:pPr>
            <a:r>
              <a:rPr lang="en-GB">
                <a:latin typeface="EB Garamond"/>
                <a:ea typeface="EB Garamond"/>
                <a:cs typeface="EB Garamond"/>
                <a:sym typeface="EB Garamond"/>
              </a:rPr>
              <a:t>For Case 2 the applying fixtures on the cylindrical surface is replaced by Nut </a:t>
            </a:r>
            <a:endParaRPr>
              <a:latin typeface="EB Garamond"/>
              <a:ea typeface="EB Garamond"/>
              <a:cs typeface="EB Garamond"/>
              <a:sym typeface="EB Garamond"/>
            </a:endParaRPr>
          </a:p>
          <a:p>
            <a:pPr marL="0" lvl="0" indent="0" algn="just" rtl="0">
              <a:lnSpc>
                <a:spcPct val="150000"/>
              </a:lnSpc>
              <a:spcBef>
                <a:spcPts val="600"/>
              </a:spcBef>
              <a:spcAft>
                <a:spcPts val="600"/>
              </a:spcAft>
              <a:buNone/>
            </a:pPr>
            <a:r>
              <a:rPr lang="en-GB">
                <a:latin typeface="EB Garamond"/>
                <a:ea typeface="EB Garamond"/>
                <a:cs typeface="EB Garamond"/>
                <a:sym typeface="EB Garamond"/>
              </a:rPr>
              <a:t>and Bolt connection. </a:t>
            </a:r>
            <a:endParaRPr>
              <a:latin typeface="EB Garamond"/>
              <a:ea typeface="EB Garamond"/>
              <a:cs typeface="EB Garamond"/>
              <a:sym typeface="EB Garamon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6"/>
          <p:cNvSpPr txBox="1">
            <a:spLocks noGrp="1"/>
          </p:cNvSpPr>
          <p:nvPr>
            <p:ph type="body" idx="1"/>
          </p:nvPr>
        </p:nvSpPr>
        <p:spPr>
          <a:xfrm>
            <a:off x="311700" y="381700"/>
            <a:ext cx="8520600" cy="3339000"/>
          </a:xfrm>
          <a:prstGeom prst="rect">
            <a:avLst/>
          </a:prstGeom>
        </p:spPr>
        <p:txBody>
          <a:bodyPr spcFirstLastPara="1" wrap="square" lIns="91425" tIns="91425" rIns="91425" bIns="91425" anchor="t" anchorCtr="0">
            <a:normAutofit/>
          </a:bodyPr>
          <a:lstStyle/>
          <a:p>
            <a:pPr marL="457200" lvl="0" indent="0" algn="l" rtl="0">
              <a:lnSpc>
                <a:spcPct val="150000"/>
              </a:lnSpc>
              <a:spcBef>
                <a:spcPts val="200"/>
              </a:spcBef>
              <a:spcAft>
                <a:spcPts val="0"/>
              </a:spcAft>
              <a:buNone/>
            </a:pPr>
            <a:r>
              <a:rPr lang="en-GB" sz="1700">
                <a:solidFill>
                  <a:srgbClr val="000000"/>
                </a:solidFill>
                <a:latin typeface="EB Garamond"/>
                <a:ea typeface="EB Garamond"/>
                <a:cs typeface="EB Garamond"/>
                <a:sym typeface="EB Garamond"/>
              </a:rPr>
              <a:t>Mesh</a:t>
            </a:r>
            <a:endParaRPr sz="1700">
              <a:latin typeface="EB Garamond"/>
              <a:ea typeface="EB Garamond"/>
              <a:cs typeface="EB Garamond"/>
              <a:sym typeface="EB Garamond"/>
            </a:endParaRPr>
          </a:p>
        </p:txBody>
      </p:sp>
      <p:pic>
        <p:nvPicPr>
          <p:cNvPr id="232" name="Google Shape;232;p36"/>
          <p:cNvPicPr preferRelativeResize="0"/>
          <p:nvPr/>
        </p:nvPicPr>
        <p:blipFill>
          <a:blip r:embed="rId3">
            <a:alphaModFix/>
          </a:blip>
          <a:stretch>
            <a:fillRect/>
          </a:stretch>
        </p:blipFill>
        <p:spPr>
          <a:xfrm>
            <a:off x="1740050" y="707000"/>
            <a:ext cx="4867275" cy="34099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7"/>
          <p:cNvSpPr txBox="1">
            <a:spLocks noGrp="1"/>
          </p:cNvSpPr>
          <p:nvPr>
            <p:ph type="title"/>
          </p:nvPr>
        </p:nvSpPr>
        <p:spPr>
          <a:xfrm>
            <a:off x="311700" y="225125"/>
            <a:ext cx="8520600" cy="607800"/>
          </a:xfrm>
          <a:prstGeom prst="rect">
            <a:avLst/>
          </a:prstGeom>
        </p:spPr>
        <p:txBody>
          <a:bodyPr spcFirstLastPara="1" wrap="square" lIns="91425" tIns="91425" rIns="91425" bIns="91425" anchor="t" anchorCtr="0">
            <a:noAutofit/>
          </a:bodyPr>
          <a:lstStyle/>
          <a:p>
            <a:pPr marL="0" lvl="0" indent="0" algn="just" rtl="0">
              <a:lnSpc>
                <a:spcPct val="107916"/>
              </a:lnSpc>
              <a:spcBef>
                <a:spcPts val="0"/>
              </a:spcBef>
              <a:spcAft>
                <a:spcPts val="0"/>
              </a:spcAft>
              <a:buNone/>
            </a:pPr>
            <a:r>
              <a:rPr lang="en-GB" sz="2400" b="1">
                <a:solidFill>
                  <a:srgbClr val="000000"/>
                </a:solidFill>
                <a:latin typeface="EB Garamond"/>
                <a:ea typeface="EB Garamond"/>
                <a:cs typeface="EB Garamond"/>
                <a:sym typeface="EB Garamond"/>
              </a:rPr>
              <a:t>Post Processing</a:t>
            </a:r>
            <a:endParaRPr sz="2400" b="1">
              <a:solidFill>
                <a:srgbClr val="000000"/>
              </a:solidFill>
              <a:latin typeface="EB Garamond"/>
              <a:ea typeface="EB Garamond"/>
              <a:cs typeface="EB Garamond"/>
              <a:sym typeface="EB Garamond"/>
            </a:endParaRPr>
          </a:p>
          <a:p>
            <a:pPr marL="0" lvl="0" indent="0" algn="l" rtl="0">
              <a:spcBef>
                <a:spcPts val="800"/>
              </a:spcBef>
              <a:spcAft>
                <a:spcPts val="0"/>
              </a:spcAft>
              <a:buNone/>
            </a:pPr>
            <a:endParaRPr/>
          </a:p>
        </p:txBody>
      </p:sp>
      <p:sp>
        <p:nvSpPr>
          <p:cNvPr id="238" name="Google Shape;238;p37"/>
          <p:cNvSpPr txBox="1">
            <a:spLocks noGrp="1"/>
          </p:cNvSpPr>
          <p:nvPr>
            <p:ph type="body" idx="1"/>
          </p:nvPr>
        </p:nvSpPr>
        <p:spPr>
          <a:xfrm>
            <a:off x="311700" y="902250"/>
            <a:ext cx="8520600" cy="3339000"/>
          </a:xfrm>
          <a:prstGeom prst="rect">
            <a:avLst/>
          </a:prstGeom>
        </p:spPr>
        <p:txBody>
          <a:bodyPr spcFirstLastPara="1" wrap="square" lIns="91425" tIns="91425" rIns="91425" bIns="91425" anchor="t" anchorCtr="0">
            <a:normAutofit/>
          </a:bodyPr>
          <a:lstStyle/>
          <a:p>
            <a:pPr marL="457200" lvl="0" indent="0" algn="just" rtl="0">
              <a:lnSpc>
                <a:spcPct val="107916"/>
              </a:lnSpc>
              <a:spcBef>
                <a:spcPts val="0"/>
              </a:spcBef>
              <a:spcAft>
                <a:spcPts val="0"/>
              </a:spcAft>
              <a:buNone/>
            </a:pPr>
            <a:r>
              <a:rPr lang="en-GB" sz="1700">
                <a:solidFill>
                  <a:srgbClr val="000000"/>
                </a:solidFill>
                <a:latin typeface="EB Garamond"/>
                <a:ea typeface="EB Garamond"/>
                <a:cs typeface="EB Garamond"/>
                <a:sym typeface="EB Garamond"/>
              </a:rPr>
              <a:t>Results  </a:t>
            </a:r>
            <a:r>
              <a:rPr lang="en-GB" sz="1200">
                <a:solidFill>
                  <a:srgbClr val="000000"/>
                </a:solidFill>
                <a:latin typeface="Times New Roman"/>
                <a:ea typeface="Times New Roman"/>
                <a:cs typeface="Times New Roman"/>
                <a:sym typeface="Times New Roman"/>
              </a:rPr>
              <a:t> </a:t>
            </a:r>
            <a:endParaRPr sz="1200">
              <a:solidFill>
                <a:srgbClr val="000000"/>
              </a:solidFill>
              <a:latin typeface="Times New Roman"/>
              <a:ea typeface="Times New Roman"/>
              <a:cs typeface="Times New Roman"/>
              <a:sym typeface="Times New Roman"/>
            </a:endParaRPr>
          </a:p>
          <a:p>
            <a:pPr marL="457200" lvl="0" indent="0" algn="just" rtl="0">
              <a:lnSpc>
                <a:spcPct val="107916"/>
              </a:lnSpc>
              <a:spcBef>
                <a:spcPts val="800"/>
              </a:spcBef>
              <a:spcAft>
                <a:spcPts val="0"/>
              </a:spcAft>
              <a:buNone/>
            </a:pPr>
            <a:r>
              <a:rPr lang="en-GB" sz="1400">
                <a:solidFill>
                  <a:srgbClr val="000000"/>
                </a:solidFill>
                <a:latin typeface="EB Garamond"/>
                <a:ea typeface="EB Garamond"/>
                <a:cs typeface="EB Garamond"/>
                <a:sym typeface="EB Garamond"/>
              </a:rPr>
              <a:t>Case 2 Stress</a:t>
            </a:r>
            <a:endParaRPr sz="1400">
              <a:solidFill>
                <a:srgbClr val="000000"/>
              </a:solidFill>
              <a:latin typeface="EB Garamond"/>
              <a:ea typeface="EB Garamond"/>
              <a:cs typeface="EB Garamond"/>
              <a:sym typeface="EB Garamond"/>
            </a:endParaRPr>
          </a:p>
          <a:p>
            <a:pPr marL="457200" lvl="0" indent="0" algn="just" rtl="0">
              <a:lnSpc>
                <a:spcPct val="107916"/>
              </a:lnSpc>
              <a:spcBef>
                <a:spcPts val="800"/>
              </a:spcBef>
              <a:spcAft>
                <a:spcPts val="800"/>
              </a:spcAft>
              <a:buNone/>
            </a:pPr>
            <a:endParaRPr sz="1700">
              <a:solidFill>
                <a:srgbClr val="000000"/>
              </a:solidFill>
              <a:latin typeface="EB Garamond"/>
              <a:ea typeface="EB Garamond"/>
              <a:cs typeface="EB Garamond"/>
              <a:sym typeface="EB Garamond"/>
            </a:endParaRPr>
          </a:p>
        </p:txBody>
      </p:sp>
      <p:pic>
        <p:nvPicPr>
          <p:cNvPr id="239" name="Google Shape;239;p37"/>
          <p:cNvPicPr preferRelativeResize="0"/>
          <p:nvPr/>
        </p:nvPicPr>
        <p:blipFill>
          <a:blip r:embed="rId3">
            <a:alphaModFix/>
          </a:blip>
          <a:stretch>
            <a:fillRect/>
          </a:stretch>
        </p:blipFill>
        <p:spPr>
          <a:xfrm>
            <a:off x="2030325" y="1326663"/>
            <a:ext cx="4800600" cy="28670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8"/>
          <p:cNvSpPr txBox="1">
            <a:spLocks noGrp="1"/>
          </p:cNvSpPr>
          <p:nvPr>
            <p:ph type="body" idx="1"/>
          </p:nvPr>
        </p:nvSpPr>
        <p:spPr>
          <a:xfrm>
            <a:off x="311700" y="555675"/>
            <a:ext cx="8520600" cy="3339000"/>
          </a:xfrm>
          <a:prstGeom prst="rect">
            <a:avLst/>
          </a:prstGeom>
        </p:spPr>
        <p:txBody>
          <a:bodyPr spcFirstLastPara="1" wrap="square" lIns="91425" tIns="91425" rIns="91425" bIns="91425" anchor="t" anchorCtr="0">
            <a:normAutofit/>
          </a:bodyPr>
          <a:lstStyle/>
          <a:p>
            <a:pPr marL="457200" lvl="0" indent="0" algn="l"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Case 2 Displacement</a:t>
            </a:r>
            <a:endParaRPr sz="1400">
              <a:solidFill>
                <a:srgbClr val="000000"/>
              </a:solidFill>
              <a:latin typeface="EB Garamond"/>
              <a:ea typeface="EB Garamond"/>
              <a:cs typeface="EB Garamond"/>
              <a:sym typeface="EB Garamond"/>
            </a:endParaRPr>
          </a:p>
          <a:p>
            <a:pPr marL="0" lvl="0" indent="0" algn="l" rtl="0">
              <a:spcBef>
                <a:spcPts val="600"/>
              </a:spcBef>
              <a:spcAft>
                <a:spcPts val="1200"/>
              </a:spcAft>
              <a:buNone/>
            </a:pPr>
            <a:endParaRPr/>
          </a:p>
        </p:txBody>
      </p:sp>
      <p:pic>
        <p:nvPicPr>
          <p:cNvPr id="245" name="Google Shape;245;p38"/>
          <p:cNvPicPr preferRelativeResize="0"/>
          <p:nvPr/>
        </p:nvPicPr>
        <p:blipFill>
          <a:blip r:embed="rId3">
            <a:alphaModFix/>
          </a:blip>
          <a:stretch>
            <a:fillRect/>
          </a:stretch>
        </p:blipFill>
        <p:spPr>
          <a:xfrm>
            <a:off x="1587800" y="1023938"/>
            <a:ext cx="5219700" cy="30956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9"/>
          <p:cNvSpPr txBox="1">
            <a:spLocks noGrp="1"/>
          </p:cNvSpPr>
          <p:nvPr>
            <p:ph type="body" idx="1"/>
          </p:nvPr>
        </p:nvSpPr>
        <p:spPr>
          <a:xfrm>
            <a:off x="311700" y="610050"/>
            <a:ext cx="8520600" cy="3339000"/>
          </a:xfrm>
          <a:prstGeom prst="rect">
            <a:avLst/>
          </a:prstGeom>
        </p:spPr>
        <p:txBody>
          <a:bodyPr spcFirstLastPara="1" wrap="square" lIns="91425" tIns="91425" rIns="91425" bIns="91425" anchor="t" anchorCtr="0">
            <a:normAutofit/>
          </a:bodyPr>
          <a:lstStyle/>
          <a:p>
            <a:pPr marL="457200" lvl="0" indent="0" algn="l"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 Case 2 Strain</a:t>
            </a:r>
            <a:endParaRPr sz="1400">
              <a:solidFill>
                <a:srgbClr val="000000"/>
              </a:solidFill>
              <a:latin typeface="EB Garamond"/>
              <a:ea typeface="EB Garamond"/>
              <a:cs typeface="EB Garamond"/>
              <a:sym typeface="EB Garamond"/>
            </a:endParaRPr>
          </a:p>
          <a:p>
            <a:pPr marL="0" lvl="0" indent="0" algn="l" rtl="0">
              <a:spcBef>
                <a:spcPts val="600"/>
              </a:spcBef>
              <a:spcAft>
                <a:spcPts val="1200"/>
              </a:spcAft>
              <a:buNone/>
            </a:pPr>
            <a:endParaRPr sz="1400">
              <a:latin typeface="EB Garamond"/>
              <a:ea typeface="EB Garamond"/>
              <a:cs typeface="EB Garamond"/>
              <a:sym typeface="EB Garamond"/>
            </a:endParaRPr>
          </a:p>
        </p:txBody>
      </p:sp>
      <p:pic>
        <p:nvPicPr>
          <p:cNvPr id="251" name="Google Shape;251;p39"/>
          <p:cNvPicPr preferRelativeResize="0"/>
          <p:nvPr/>
        </p:nvPicPr>
        <p:blipFill>
          <a:blip r:embed="rId3">
            <a:alphaModFix/>
          </a:blip>
          <a:stretch>
            <a:fillRect/>
          </a:stretch>
        </p:blipFill>
        <p:spPr>
          <a:xfrm>
            <a:off x="1707425" y="1052500"/>
            <a:ext cx="5143500" cy="30384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0"/>
          <p:cNvSpPr txBox="1">
            <a:spLocks noGrp="1"/>
          </p:cNvSpPr>
          <p:nvPr>
            <p:ph type="body" idx="1"/>
          </p:nvPr>
        </p:nvSpPr>
        <p:spPr>
          <a:xfrm>
            <a:off x="311700" y="533925"/>
            <a:ext cx="8520600" cy="3339000"/>
          </a:xfrm>
          <a:prstGeom prst="rect">
            <a:avLst/>
          </a:prstGeom>
        </p:spPr>
        <p:txBody>
          <a:bodyPr spcFirstLastPara="1" wrap="square" lIns="91425" tIns="91425" rIns="91425" bIns="91425" anchor="t" anchorCtr="0">
            <a:normAutofit/>
          </a:bodyPr>
          <a:lstStyle/>
          <a:p>
            <a:pPr marL="457200" lvl="0" indent="0" algn="l" rtl="0">
              <a:lnSpc>
                <a:spcPct val="150000"/>
              </a:lnSpc>
              <a:spcBef>
                <a:spcPts val="600"/>
              </a:spcBef>
              <a:spcAft>
                <a:spcPts val="600"/>
              </a:spcAft>
              <a:buNone/>
            </a:pPr>
            <a:r>
              <a:rPr lang="en-GB" sz="1400">
                <a:solidFill>
                  <a:srgbClr val="000000"/>
                </a:solidFill>
                <a:latin typeface="EB Garamond"/>
                <a:ea typeface="EB Garamond"/>
                <a:cs typeface="EB Garamond"/>
                <a:sym typeface="EB Garamond"/>
              </a:rPr>
              <a:t>Case 2 FOS</a:t>
            </a:r>
            <a:endParaRPr sz="1400">
              <a:latin typeface="EB Garamond"/>
              <a:ea typeface="EB Garamond"/>
              <a:cs typeface="EB Garamond"/>
              <a:sym typeface="EB Garamond"/>
            </a:endParaRPr>
          </a:p>
        </p:txBody>
      </p:sp>
      <p:pic>
        <p:nvPicPr>
          <p:cNvPr id="257" name="Google Shape;257;p40"/>
          <p:cNvPicPr preferRelativeResize="0"/>
          <p:nvPr/>
        </p:nvPicPr>
        <p:blipFill>
          <a:blip r:embed="rId3">
            <a:alphaModFix/>
          </a:blip>
          <a:stretch>
            <a:fillRect/>
          </a:stretch>
        </p:blipFill>
        <p:spPr>
          <a:xfrm>
            <a:off x="1674800" y="891600"/>
            <a:ext cx="4981575" cy="29813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pic>
        <p:nvPicPr>
          <p:cNvPr id="262" name="Google Shape;262;p41"/>
          <p:cNvPicPr preferRelativeResize="0"/>
          <p:nvPr/>
        </p:nvPicPr>
        <p:blipFill>
          <a:blip r:embed="rId3">
            <a:alphaModFix/>
          </a:blip>
          <a:stretch>
            <a:fillRect/>
          </a:stretch>
        </p:blipFill>
        <p:spPr>
          <a:xfrm>
            <a:off x="228500" y="141525"/>
            <a:ext cx="6315075" cy="4457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2"/>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lnSpc>
                <a:spcPct val="150000"/>
              </a:lnSpc>
              <a:spcBef>
                <a:spcPts val="7200"/>
              </a:spcBef>
              <a:spcAft>
                <a:spcPts val="0"/>
              </a:spcAft>
              <a:buNone/>
            </a:pPr>
            <a:r>
              <a:rPr lang="en-GB" sz="2400" b="1">
                <a:solidFill>
                  <a:srgbClr val="000000"/>
                </a:solidFill>
                <a:latin typeface="EB Garamond"/>
                <a:ea typeface="EB Garamond"/>
                <a:cs typeface="EB Garamond"/>
                <a:sym typeface="EB Garamond"/>
              </a:rPr>
              <a:t>Multi Domain Modelling and Simulation</a:t>
            </a:r>
            <a:endParaRPr sz="2400" b="1">
              <a:solidFill>
                <a:srgbClr val="000000"/>
              </a:solidFill>
              <a:latin typeface="EB Garamond"/>
              <a:ea typeface="EB Garamond"/>
              <a:cs typeface="EB Garamond"/>
              <a:sym typeface="EB Garamond"/>
            </a:endParaRPr>
          </a:p>
          <a:p>
            <a:pPr marL="0" lvl="0" indent="0" algn="l" rtl="0">
              <a:spcBef>
                <a:spcPts val="6000"/>
              </a:spcBef>
              <a:spcAft>
                <a:spcPts val="0"/>
              </a:spcAft>
              <a:buNone/>
            </a:pPr>
            <a:endParaRPr sz="2444"/>
          </a:p>
        </p:txBody>
      </p:sp>
      <p:sp>
        <p:nvSpPr>
          <p:cNvPr id="268" name="Google Shape;268;p42"/>
          <p:cNvSpPr txBox="1">
            <a:spLocks noGrp="1"/>
          </p:cNvSpPr>
          <p:nvPr>
            <p:ph type="body" idx="1"/>
          </p:nvPr>
        </p:nvSpPr>
        <p:spPr>
          <a:xfrm>
            <a:off x="311700" y="1017800"/>
            <a:ext cx="8520600" cy="3339000"/>
          </a:xfrm>
          <a:prstGeom prst="rect">
            <a:avLst/>
          </a:prstGeom>
        </p:spPr>
        <p:txBody>
          <a:bodyPr spcFirstLastPara="1" wrap="square" lIns="91425" tIns="91425" rIns="91425" bIns="91425" anchor="t" anchorCtr="0">
            <a:normAutofit lnSpcReduction="20000"/>
          </a:bodyPr>
          <a:lstStyle/>
          <a:p>
            <a:pPr marL="476250" lvl="0" indent="-247650" algn="just" rtl="0">
              <a:lnSpc>
                <a:spcPct val="150000"/>
              </a:lnSpc>
              <a:spcBef>
                <a:spcPts val="1400"/>
              </a:spcBef>
              <a:spcAft>
                <a:spcPts val="0"/>
              </a:spcAft>
              <a:buNone/>
            </a:pPr>
            <a:r>
              <a:rPr lang="en-GB" sz="1700">
                <a:solidFill>
                  <a:srgbClr val="000000"/>
                </a:solidFill>
                <a:latin typeface="EB Garamond"/>
                <a:ea typeface="EB Garamond"/>
                <a:cs typeface="EB Garamond"/>
                <a:sym typeface="EB Garamond"/>
              </a:rPr>
              <a:t>Multi-domain physical modelling</a:t>
            </a:r>
            <a:endParaRPr sz="1700">
              <a:solidFill>
                <a:srgbClr val="000000"/>
              </a:solidFill>
              <a:latin typeface="EB Garamond"/>
              <a:ea typeface="EB Garamond"/>
              <a:cs typeface="EB Garamond"/>
              <a:sym typeface="EB Garamond"/>
            </a:endParaRPr>
          </a:p>
          <a:p>
            <a:pPr marL="0" lvl="0" indent="0" algn="just" rtl="0">
              <a:lnSpc>
                <a:spcPct val="150000"/>
              </a:lnSpc>
              <a:spcBef>
                <a:spcPts val="1200"/>
              </a:spcBef>
              <a:spcAft>
                <a:spcPts val="0"/>
              </a:spcAft>
              <a:buNone/>
            </a:pPr>
            <a:r>
              <a:rPr lang="en-GB" sz="1400">
                <a:solidFill>
                  <a:srgbClr val="000000"/>
                </a:solidFill>
                <a:latin typeface="EB Garamond"/>
                <a:ea typeface="EB Garamond"/>
                <a:cs typeface="EB Garamond"/>
                <a:sym typeface="EB Garamond"/>
              </a:rPr>
              <a:t>For the Multi Domain Modelling and Simulation, we performed simulation on Simscape multibody. Simscape Multibody offers a multibody simulation environment for 3D mechanical systems. Blocks that represent bodies, joints, constraints, force elements, and sensors can be used to construct multibody systems. The equations of motion for the entire mechanical system are created and resolved by Simscape Multibody.</a:t>
            </a:r>
            <a:endParaRPr sz="1400">
              <a:solidFill>
                <a:srgbClr val="000000"/>
              </a:solidFill>
              <a:latin typeface="EB Garamond"/>
              <a:ea typeface="EB Garamond"/>
              <a:cs typeface="EB Garamond"/>
              <a:sym typeface="EB Garamond"/>
            </a:endParaRPr>
          </a:p>
          <a:p>
            <a:pPr marL="0" lvl="0" indent="0" algn="just"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Additionally, users can import whole CAD assemblies into a model, which include all masses, joints, constraints, inertias, and 3D geometry. The dynamics of the system can be seen in a 3D animation that is automatically created.</a:t>
            </a:r>
            <a:endParaRPr sz="1400">
              <a:solidFill>
                <a:srgbClr val="000000"/>
              </a:solidFill>
              <a:latin typeface="EB Garamond"/>
              <a:ea typeface="EB Garamond"/>
              <a:cs typeface="EB Garamond"/>
              <a:sym typeface="EB Garamond"/>
            </a:endParaRPr>
          </a:p>
          <a:p>
            <a:pPr marL="0" lvl="0" indent="0" algn="just"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Users may test system-level performance and create control systems with Simscape Multibody. One can use MATLAB to parameterize the models as well.</a:t>
            </a:r>
            <a:endParaRPr sz="1400">
              <a:solidFill>
                <a:srgbClr val="000000"/>
              </a:solidFill>
              <a:latin typeface="EB Garamond"/>
              <a:ea typeface="EB Garamond"/>
              <a:cs typeface="EB Garamond"/>
              <a:sym typeface="EB Garamond"/>
            </a:endParaRPr>
          </a:p>
          <a:p>
            <a:pPr marL="0" lvl="0" indent="0" algn="just" rtl="0">
              <a:spcBef>
                <a:spcPts val="600"/>
              </a:spcBef>
              <a:spcAft>
                <a:spcPts val="1200"/>
              </a:spcAft>
              <a:buNone/>
            </a:pPr>
            <a:endParaRPr sz="1400">
              <a:latin typeface="EB Garamond"/>
              <a:ea typeface="EB Garamond"/>
              <a:cs typeface="EB Garamond"/>
              <a:sym typeface="EB Garamon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3"/>
          <p:cNvSpPr txBox="1">
            <a:spLocks noGrp="1"/>
          </p:cNvSpPr>
          <p:nvPr>
            <p:ph type="body" idx="1"/>
          </p:nvPr>
        </p:nvSpPr>
        <p:spPr>
          <a:xfrm>
            <a:off x="268200" y="599200"/>
            <a:ext cx="4276800" cy="3470700"/>
          </a:xfrm>
          <a:prstGeom prst="rect">
            <a:avLst/>
          </a:prstGeom>
        </p:spPr>
        <p:txBody>
          <a:bodyPr spcFirstLastPara="1" wrap="square" lIns="91425" tIns="91425" rIns="91425" bIns="91425" anchor="t" anchorCtr="0">
            <a:normAutofit/>
          </a:bodyPr>
          <a:lstStyle/>
          <a:p>
            <a:pPr marL="457200" lvl="0" indent="0" algn="l"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Link 1 Multibody</a:t>
            </a:r>
            <a:endParaRPr sz="1400">
              <a:solidFill>
                <a:srgbClr val="000000"/>
              </a:solidFill>
              <a:latin typeface="EB Garamond"/>
              <a:ea typeface="EB Garamond"/>
              <a:cs typeface="EB Garamond"/>
              <a:sym typeface="EB Garamond"/>
            </a:endParaRPr>
          </a:p>
          <a:p>
            <a:pPr marL="0" lvl="0" indent="0" algn="l" rtl="0">
              <a:spcBef>
                <a:spcPts val="600"/>
              </a:spcBef>
              <a:spcAft>
                <a:spcPts val="1200"/>
              </a:spcAft>
              <a:buNone/>
            </a:pPr>
            <a:endParaRPr/>
          </a:p>
        </p:txBody>
      </p:sp>
      <p:pic>
        <p:nvPicPr>
          <p:cNvPr id="274" name="Google Shape;274;p43"/>
          <p:cNvPicPr preferRelativeResize="0"/>
          <p:nvPr/>
        </p:nvPicPr>
        <p:blipFill>
          <a:blip r:embed="rId3">
            <a:alphaModFix/>
          </a:blip>
          <a:stretch>
            <a:fillRect/>
          </a:stretch>
        </p:blipFill>
        <p:spPr>
          <a:xfrm>
            <a:off x="2127738" y="1323925"/>
            <a:ext cx="4276725" cy="2800350"/>
          </a:xfrm>
          <a:prstGeom prst="rect">
            <a:avLst/>
          </a:prstGeom>
          <a:noFill/>
          <a:ln>
            <a:noFill/>
          </a:ln>
        </p:spPr>
      </p:pic>
      <p:sp>
        <p:nvSpPr>
          <p:cNvPr id="275" name="Google Shape;275;p43"/>
          <p:cNvSpPr txBox="1"/>
          <p:nvPr/>
        </p:nvSpPr>
        <p:spPr>
          <a:xfrm>
            <a:off x="4871650" y="599200"/>
            <a:ext cx="3000000" cy="400200"/>
          </a:xfrm>
          <a:prstGeom prst="rect">
            <a:avLst/>
          </a:prstGeom>
          <a:noFill/>
          <a:ln>
            <a:noFill/>
          </a:ln>
        </p:spPr>
        <p:txBody>
          <a:bodyPr spcFirstLastPara="1" wrap="square" lIns="91425" tIns="91425" rIns="91425" bIns="91425" anchor="t" anchorCtr="0">
            <a:spAutoFit/>
          </a:bodyPr>
          <a:lstStyle/>
          <a:p>
            <a:pPr marL="457200" lvl="0" indent="0" algn="l" rtl="0">
              <a:lnSpc>
                <a:spcPct val="150000"/>
              </a:lnSpc>
              <a:spcBef>
                <a:spcPts val="600"/>
              </a:spcBef>
              <a:spcAft>
                <a:spcPts val="600"/>
              </a:spcAft>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457200" lvl="0" indent="0" algn="l"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Link 2 Multibody</a:t>
            </a:r>
            <a:endParaRPr sz="1400">
              <a:solidFill>
                <a:srgbClr val="000000"/>
              </a:solidFill>
              <a:latin typeface="Arial"/>
              <a:ea typeface="Arial"/>
              <a:cs typeface="Arial"/>
              <a:sym typeface="Arial"/>
            </a:endParaRPr>
          </a:p>
          <a:p>
            <a:pPr marL="0" lvl="0" indent="0" algn="l" rtl="0">
              <a:spcBef>
                <a:spcPts val="600"/>
              </a:spcBef>
              <a:spcAft>
                <a:spcPts val="0"/>
              </a:spcAft>
              <a:buNone/>
            </a:pPr>
            <a:endParaRPr/>
          </a:p>
        </p:txBody>
      </p:sp>
      <p:pic>
        <p:nvPicPr>
          <p:cNvPr id="281" name="Google Shape;281;p44"/>
          <p:cNvPicPr preferRelativeResize="0"/>
          <p:nvPr/>
        </p:nvPicPr>
        <p:blipFill>
          <a:blip r:embed="rId3">
            <a:alphaModFix/>
          </a:blip>
          <a:stretch>
            <a:fillRect/>
          </a:stretch>
        </p:blipFill>
        <p:spPr>
          <a:xfrm>
            <a:off x="2272038" y="1194600"/>
            <a:ext cx="4208425" cy="29718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5"/>
          <p:cNvSpPr txBox="1">
            <a:spLocks noGrp="1"/>
          </p:cNvSpPr>
          <p:nvPr>
            <p:ph type="body" idx="1"/>
          </p:nvPr>
        </p:nvSpPr>
        <p:spPr>
          <a:xfrm>
            <a:off x="311700" y="392575"/>
            <a:ext cx="2180700" cy="470700"/>
          </a:xfrm>
          <a:prstGeom prst="rect">
            <a:avLst/>
          </a:prstGeom>
        </p:spPr>
        <p:txBody>
          <a:bodyPr spcFirstLastPara="1" wrap="square" lIns="91425" tIns="91425" rIns="91425" bIns="91425" anchor="t" anchorCtr="0">
            <a:noAutofit/>
          </a:bodyPr>
          <a:lstStyle/>
          <a:p>
            <a:pPr marL="457200" lvl="0" indent="0" algn="l"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AQJ Subsystem</a:t>
            </a:r>
            <a:endParaRPr sz="1400">
              <a:solidFill>
                <a:srgbClr val="000000"/>
              </a:solidFill>
              <a:latin typeface="EB Garamond"/>
              <a:ea typeface="EB Garamond"/>
              <a:cs typeface="EB Garamond"/>
              <a:sym typeface="EB Garamond"/>
            </a:endParaRPr>
          </a:p>
          <a:p>
            <a:pPr marL="457200" lvl="0" indent="0" algn="l" rtl="0">
              <a:lnSpc>
                <a:spcPct val="150000"/>
              </a:lnSpc>
              <a:spcBef>
                <a:spcPts val="600"/>
              </a:spcBef>
              <a:spcAft>
                <a:spcPts val="600"/>
              </a:spcAft>
              <a:buNone/>
            </a:pPr>
            <a:endParaRPr sz="1400">
              <a:latin typeface="EB Garamond"/>
              <a:ea typeface="EB Garamond"/>
              <a:cs typeface="EB Garamond"/>
              <a:sym typeface="EB Garamond"/>
            </a:endParaRPr>
          </a:p>
        </p:txBody>
      </p:sp>
      <p:pic>
        <p:nvPicPr>
          <p:cNvPr id="287" name="Google Shape;287;p45"/>
          <p:cNvPicPr preferRelativeResize="0"/>
          <p:nvPr/>
        </p:nvPicPr>
        <p:blipFill>
          <a:blip r:embed="rId3">
            <a:alphaModFix/>
          </a:blip>
          <a:stretch>
            <a:fillRect/>
          </a:stretch>
        </p:blipFill>
        <p:spPr>
          <a:xfrm>
            <a:off x="2285775" y="732800"/>
            <a:ext cx="4327900" cy="3931275"/>
          </a:xfrm>
          <a:prstGeom prst="rect">
            <a:avLst/>
          </a:prstGeom>
          <a:noFill/>
          <a:ln>
            <a:noFill/>
          </a:ln>
        </p:spPr>
      </p:pic>
      <p:sp>
        <p:nvSpPr>
          <p:cNvPr id="288" name="Google Shape;288;p45"/>
          <p:cNvSpPr txBox="1"/>
          <p:nvPr/>
        </p:nvSpPr>
        <p:spPr>
          <a:xfrm>
            <a:off x="5219600" y="392575"/>
            <a:ext cx="3000000" cy="400200"/>
          </a:xfrm>
          <a:prstGeom prst="rect">
            <a:avLst/>
          </a:prstGeom>
          <a:noFill/>
          <a:ln>
            <a:noFill/>
          </a:ln>
        </p:spPr>
        <p:txBody>
          <a:bodyPr spcFirstLastPara="1" wrap="square" lIns="91425" tIns="91425" rIns="91425" bIns="91425" anchor="t" anchorCtr="0">
            <a:spAutoFit/>
          </a:bodyPr>
          <a:lstStyle/>
          <a:p>
            <a:pPr marL="457200" lvl="0" indent="0" algn="l" rtl="0">
              <a:lnSpc>
                <a:spcPct val="150000"/>
              </a:lnSpc>
              <a:spcBef>
                <a:spcPts val="600"/>
              </a:spcBef>
              <a:spcAft>
                <a:spcPts val="600"/>
              </a:spcAft>
              <a:buNone/>
            </a:pPr>
            <a:endParaRPr>
              <a:latin typeface="EB Garamond"/>
              <a:ea typeface="EB Garamond"/>
              <a:cs typeface="EB Garamond"/>
              <a:sym typeface="EB Garamon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457200" lvl="0" indent="0" algn="l"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AQJ Multibody Model</a:t>
            </a:r>
            <a:endParaRPr sz="1400">
              <a:solidFill>
                <a:srgbClr val="000000"/>
              </a:solidFill>
              <a:latin typeface="EB Garamond"/>
              <a:ea typeface="EB Garamond"/>
              <a:cs typeface="EB Garamond"/>
              <a:sym typeface="EB Garamond"/>
            </a:endParaRPr>
          </a:p>
          <a:p>
            <a:pPr marL="0" lvl="0" indent="0" algn="l" rtl="0">
              <a:spcBef>
                <a:spcPts val="600"/>
              </a:spcBef>
              <a:spcAft>
                <a:spcPts val="0"/>
              </a:spcAft>
              <a:buNone/>
            </a:pPr>
            <a:endParaRPr>
              <a:latin typeface="EB Garamond"/>
              <a:ea typeface="EB Garamond"/>
              <a:cs typeface="EB Garamond"/>
              <a:sym typeface="EB Garamond"/>
            </a:endParaRPr>
          </a:p>
        </p:txBody>
      </p:sp>
      <p:pic>
        <p:nvPicPr>
          <p:cNvPr id="294" name="Google Shape;294;p46"/>
          <p:cNvPicPr preferRelativeResize="0"/>
          <p:nvPr/>
        </p:nvPicPr>
        <p:blipFill>
          <a:blip r:embed="rId3">
            <a:alphaModFix/>
          </a:blip>
          <a:stretch>
            <a:fillRect/>
          </a:stretch>
        </p:blipFill>
        <p:spPr>
          <a:xfrm>
            <a:off x="2003050" y="826600"/>
            <a:ext cx="4458401" cy="38385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7"/>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p>
            <a:pPr marL="0" lvl="0" indent="0" algn="l" rtl="0">
              <a:lnSpc>
                <a:spcPct val="150000"/>
              </a:lnSpc>
              <a:spcBef>
                <a:spcPts val="1400"/>
              </a:spcBef>
              <a:spcAft>
                <a:spcPts val="1200"/>
              </a:spcAft>
              <a:buNone/>
            </a:pPr>
            <a:r>
              <a:rPr lang="en-GB" sz="2400" b="1">
                <a:solidFill>
                  <a:srgbClr val="000000"/>
                </a:solidFill>
                <a:latin typeface="EB Garamond"/>
                <a:ea typeface="EB Garamond"/>
                <a:cs typeface="EB Garamond"/>
                <a:sym typeface="EB Garamond"/>
              </a:rPr>
              <a:t>Simulation Results</a:t>
            </a:r>
            <a:endParaRPr sz="2400" b="1">
              <a:latin typeface="EB Garamond"/>
              <a:ea typeface="EB Garamond"/>
              <a:cs typeface="EB Garamond"/>
              <a:sym typeface="EB Garamond"/>
            </a:endParaRPr>
          </a:p>
        </p:txBody>
      </p:sp>
      <p:sp>
        <p:nvSpPr>
          <p:cNvPr id="300" name="Google Shape;300;p47"/>
          <p:cNvSpPr txBox="1">
            <a:spLocks noGrp="1"/>
          </p:cNvSpPr>
          <p:nvPr>
            <p:ph type="body" idx="1"/>
          </p:nvPr>
        </p:nvSpPr>
        <p:spPr>
          <a:xfrm>
            <a:off x="311700" y="958025"/>
            <a:ext cx="8520600" cy="3339000"/>
          </a:xfrm>
          <a:prstGeom prst="rect">
            <a:avLst/>
          </a:prstGeom>
        </p:spPr>
        <p:txBody>
          <a:bodyPr spcFirstLastPara="1" wrap="square" lIns="91425" tIns="91425" rIns="91425" bIns="91425" anchor="t" anchorCtr="0">
            <a:normAutofit/>
          </a:bodyPr>
          <a:lstStyle/>
          <a:p>
            <a:pPr marL="457200" lvl="0" indent="0" algn="l"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AQJ Position Result</a:t>
            </a:r>
            <a:endParaRPr sz="1400">
              <a:solidFill>
                <a:srgbClr val="000000"/>
              </a:solidFill>
              <a:latin typeface="EB Garamond"/>
              <a:ea typeface="EB Garamond"/>
              <a:cs typeface="EB Garamond"/>
              <a:sym typeface="EB Garamond"/>
            </a:endParaRPr>
          </a:p>
          <a:p>
            <a:pPr marL="0" lvl="0" indent="0" algn="l" rtl="0">
              <a:spcBef>
                <a:spcPts val="600"/>
              </a:spcBef>
              <a:spcAft>
                <a:spcPts val="1200"/>
              </a:spcAft>
              <a:buNone/>
            </a:pPr>
            <a:endParaRPr/>
          </a:p>
        </p:txBody>
      </p:sp>
      <p:pic>
        <p:nvPicPr>
          <p:cNvPr id="301" name="Google Shape;301;p47"/>
          <p:cNvPicPr preferRelativeResize="0"/>
          <p:nvPr/>
        </p:nvPicPr>
        <p:blipFill>
          <a:blip r:embed="rId3">
            <a:alphaModFix/>
          </a:blip>
          <a:stretch>
            <a:fillRect/>
          </a:stretch>
        </p:blipFill>
        <p:spPr>
          <a:xfrm>
            <a:off x="2066275" y="1428500"/>
            <a:ext cx="4857750" cy="30099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8"/>
          <p:cNvSpPr txBox="1">
            <a:spLocks noGrp="1"/>
          </p:cNvSpPr>
          <p:nvPr>
            <p:ph type="body" idx="1"/>
          </p:nvPr>
        </p:nvSpPr>
        <p:spPr>
          <a:xfrm>
            <a:off x="311700" y="384950"/>
            <a:ext cx="8520600" cy="4183800"/>
          </a:xfrm>
          <a:prstGeom prst="rect">
            <a:avLst/>
          </a:prstGeom>
        </p:spPr>
        <p:txBody>
          <a:bodyPr spcFirstLastPara="1" wrap="square" lIns="91425" tIns="91425" rIns="91425" bIns="91425" anchor="t" anchorCtr="0">
            <a:normAutofit/>
          </a:bodyPr>
          <a:lstStyle/>
          <a:p>
            <a:pPr marL="457200" lvl="0" indent="0" algn="l"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AQJ Velocity Result</a:t>
            </a:r>
            <a:endParaRPr sz="1400">
              <a:solidFill>
                <a:srgbClr val="000000"/>
              </a:solidFill>
              <a:latin typeface="EB Garamond"/>
              <a:ea typeface="EB Garamond"/>
              <a:cs typeface="EB Garamond"/>
              <a:sym typeface="EB Garamond"/>
            </a:endParaRPr>
          </a:p>
          <a:p>
            <a:pPr marL="0" lvl="0" indent="0" algn="l" rtl="0">
              <a:spcBef>
                <a:spcPts val="600"/>
              </a:spcBef>
              <a:spcAft>
                <a:spcPts val="1200"/>
              </a:spcAft>
              <a:buNone/>
            </a:pPr>
            <a:endParaRPr/>
          </a:p>
        </p:txBody>
      </p:sp>
      <p:pic>
        <p:nvPicPr>
          <p:cNvPr id="307" name="Google Shape;307;p48"/>
          <p:cNvPicPr preferRelativeResize="0"/>
          <p:nvPr/>
        </p:nvPicPr>
        <p:blipFill>
          <a:blip r:embed="rId3">
            <a:alphaModFix/>
          </a:blip>
          <a:stretch>
            <a:fillRect/>
          </a:stretch>
        </p:blipFill>
        <p:spPr>
          <a:xfrm>
            <a:off x="1892275" y="924475"/>
            <a:ext cx="5219700" cy="27908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9"/>
          <p:cNvSpPr txBox="1">
            <a:spLocks noGrp="1"/>
          </p:cNvSpPr>
          <p:nvPr>
            <p:ph type="body" idx="1"/>
          </p:nvPr>
        </p:nvSpPr>
        <p:spPr>
          <a:xfrm>
            <a:off x="311700" y="428450"/>
            <a:ext cx="8520600" cy="4140300"/>
          </a:xfrm>
          <a:prstGeom prst="rect">
            <a:avLst/>
          </a:prstGeom>
        </p:spPr>
        <p:txBody>
          <a:bodyPr spcFirstLastPara="1" wrap="square" lIns="91425" tIns="91425" rIns="91425" bIns="91425" anchor="t" anchorCtr="0">
            <a:normAutofit/>
          </a:bodyPr>
          <a:lstStyle/>
          <a:p>
            <a:pPr marL="457200" lvl="0" indent="0" algn="l" rtl="0">
              <a:lnSpc>
                <a:spcPct val="150000"/>
              </a:lnSpc>
              <a:spcBef>
                <a:spcPts val="600"/>
              </a:spcBef>
              <a:spcAft>
                <a:spcPts val="0"/>
              </a:spcAft>
              <a:buNone/>
            </a:pPr>
            <a:r>
              <a:rPr lang="en-GB" sz="1400">
                <a:solidFill>
                  <a:srgbClr val="000000"/>
                </a:solidFill>
                <a:latin typeface="EB Garamond"/>
                <a:ea typeface="EB Garamond"/>
                <a:cs typeface="EB Garamond"/>
                <a:sym typeface="EB Garamond"/>
              </a:rPr>
              <a:t>AQJ Acceleration Result</a:t>
            </a:r>
            <a:endParaRPr sz="1400">
              <a:solidFill>
                <a:srgbClr val="000000"/>
              </a:solidFill>
              <a:latin typeface="EB Garamond"/>
              <a:ea typeface="EB Garamond"/>
              <a:cs typeface="EB Garamond"/>
              <a:sym typeface="EB Garamond"/>
            </a:endParaRPr>
          </a:p>
          <a:p>
            <a:pPr marL="0" lvl="0" indent="0" algn="l" rtl="0">
              <a:spcBef>
                <a:spcPts val="600"/>
              </a:spcBef>
              <a:spcAft>
                <a:spcPts val="1200"/>
              </a:spcAft>
              <a:buNone/>
            </a:pPr>
            <a:endParaRPr/>
          </a:p>
        </p:txBody>
      </p:sp>
      <p:pic>
        <p:nvPicPr>
          <p:cNvPr id="313" name="Google Shape;313;p49"/>
          <p:cNvPicPr preferRelativeResize="0"/>
          <p:nvPr/>
        </p:nvPicPr>
        <p:blipFill>
          <a:blip r:embed="rId3">
            <a:alphaModFix/>
          </a:blip>
          <a:stretch>
            <a:fillRect/>
          </a:stretch>
        </p:blipFill>
        <p:spPr>
          <a:xfrm>
            <a:off x="1696575" y="863425"/>
            <a:ext cx="5219700" cy="31100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pic>
        <p:nvPicPr>
          <p:cNvPr id="318" name="Google Shape;318;p50" title="aqj.mp4">
            <a:hlinkClick r:id="rId3"/>
          </p:cNvPr>
          <p:cNvPicPr preferRelativeResize="0"/>
          <p:nvPr/>
        </p:nvPicPr>
        <p:blipFill>
          <a:blip r:embed="rId4">
            <a:alphaModFix/>
          </a:blip>
          <a:stretch>
            <a:fillRect/>
          </a:stretch>
        </p:blipFill>
        <p:spPr>
          <a:xfrm>
            <a:off x="190825" y="775125"/>
            <a:ext cx="4099474" cy="2305951"/>
          </a:xfrm>
          <a:prstGeom prst="rect">
            <a:avLst/>
          </a:prstGeom>
          <a:noFill/>
          <a:ln>
            <a:noFill/>
          </a:ln>
        </p:spPr>
      </p:pic>
      <p:pic>
        <p:nvPicPr>
          <p:cNvPr id="319" name="Google Shape;319;p50" title="Screen Recording 2025-01-11 181537.mp4">
            <a:hlinkClick r:id="rId5"/>
          </p:cNvPr>
          <p:cNvPicPr preferRelativeResize="0"/>
          <p:nvPr/>
        </p:nvPicPr>
        <p:blipFill>
          <a:blip r:embed="rId6">
            <a:alphaModFix/>
          </a:blip>
          <a:stretch>
            <a:fillRect/>
          </a:stretch>
        </p:blipFill>
        <p:spPr>
          <a:xfrm>
            <a:off x="4571999" y="1357813"/>
            <a:ext cx="4472774" cy="201052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8"/>
                                        </p:tgtEl>
                                        <p:attrNameLst>
                                          <p:attrName>style.visibility</p:attrName>
                                        </p:attrNameLst>
                                      </p:cBhvr>
                                      <p:to>
                                        <p:strVal val="visible"/>
                                      </p:to>
                                    </p:set>
                                    <p:animEffect transition="in" filter="fade">
                                      <p:cBhvr>
                                        <p:cTn id="7" dur="1000"/>
                                        <p:tgtEl>
                                          <p:spTgt spid="3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9"/>
                                        </p:tgtEl>
                                        <p:attrNameLst>
                                          <p:attrName>style.visibility</p:attrName>
                                        </p:attrNameLst>
                                      </p:cBhvr>
                                      <p:to>
                                        <p:strVal val="visible"/>
                                      </p:to>
                                    </p:set>
                                    <p:animEffect transition="in" filter="fade">
                                      <p:cBhvr>
                                        <p:cTn id="12" dur="1000"/>
                                        <p:tgtEl>
                                          <p:spTgt spid="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51"/>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None/>
            </a:pPr>
            <a:r>
              <a:rPr lang="en-GB" sz="2400" b="1">
                <a:solidFill>
                  <a:srgbClr val="000000"/>
                </a:solidFill>
                <a:latin typeface="EB Garamond"/>
                <a:ea typeface="EB Garamond"/>
                <a:cs typeface="EB Garamond"/>
                <a:sym typeface="EB Garamond"/>
              </a:rPr>
              <a:t>Conclusions</a:t>
            </a:r>
            <a:endParaRPr sz="2400" b="1">
              <a:solidFill>
                <a:srgbClr val="000000"/>
              </a:solidFill>
              <a:latin typeface="EB Garamond"/>
              <a:ea typeface="EB Garamond"/>
              <a:cs typeface="EB Garamond"/>
              <a:sym typeface="EB Garamond"/>
            </a:endParaRPr>
          </a:p>
          <a:p>
            <a:pPr marL="0" lvl="0" indent="0" algn="l" rtl="0">
              <a:spcBef>
                <a:spcPts val="800"/>
              </a:spcBef>
              <a:spcAft>
                <a:spcPts val="0"/>
              </a:spcAft>
              <a:buNone/>
            </a:pPr>
            <a:endParaRPr/>
          </a:p>
        </p:txBody>
      </p:sp>
      <p:sp>
        <p:nvSpPr>
          <p:cNvPr id="325" name="Google Shape;325;p51"/>
          <p:cNvSpPr txBox="1">
            <a:spLocks noGrp="1"/>
          </p:cNvSpPr>
          <p:nvPr>
            <p:ph type="body" idx="1"/>
          </p:nvPr>
        </p:nvSpPr>
        <p:spPr>
          <a:xfrm>
            <a:off x="409650" y="1088525"/>
            <a:ext cx="8324700" cy="3339000"/>
          </a:xfrm>
          <a:prstGeom prst="rect">
            <a:avLst/>
          </a:prstGeom>
        </p:spPr>
        <p:txBody>
          <a:bodyPr spcFirstLastPara="1" wrap="square" lIns="91425" tIns="91425" rIns="91425" bIns="91425" anchor="t" anchorCtr="0">
            <a:normAutofit/>
          </a:bodyPr>
          <a:lstStyle/>
          <a:p>
            <a:pPr marL="0" lvl="0" indent="0" algn="just" rtl="0">
              <a:lnSpc>
                <a:spcPct val="150000"/>
              </a:lnSpc>
              <a:spcBef>
                <a:spcPts val="600"/>
              </a:spcBef>
              <a:spcAft>
                <a:spcPts val="0"/>
              </a:spcAft>
              <a:buNone/>
            </a:pPr>
            <a:r>
              <a:rPr lang="en-GB" sz="1700">
                <a:solidFill>
                  <a:srgbClr val="000000"/>
                </a:solidFill>
                <a:latin typeface="EB Garamond"/>
                <a:ea typeface="EB Garamond"/>
                <a:cs typeface="EB Garamond"/>
                <a:sym typeface="EB Garamond"/>
              </a:rPr>
              <a:t>SolidWorks FEA Analysis Conclusion:</a:t>
            </a:r>
            <a:endParaRPr sz="1700">
              <a:solidFill>
                <a:srgbClr val="000000"/>
              </a:solidFill>
              <a:latin typeface="EB Garamond"/>
              <a:ea typeface="EB Garamond"/>
              <a:cs typeface="EB Garamond"/>
              <a:sym typeface="EB Garamond"/>
            </a:endParaRPr>
          </a:p>
          <a:p>
            <a:pPr marL="0" lvl="0" indent="0" algn="just" rtl="0">
              <a:lnSpc>
                <a:spcPct val="150000"/>
              </a:lnSpc>
              <a:spcBef>
                <a:spcPts val="600"/>
              </a:spcBef>
              <a:spcAft>
                <a:spcPts val="600"/>
              </a:spcAft>
              <a:buNone/>
            </a:pPr>
            <a:r>
              <a:rPr lang="en-GB" sz="1400">
                <a:solidFill>
                  <a:srgbClr val="000000"/>
                </a:solidFill>
                <a:latin typeface="EB Garamond"/>
                <a:ea typeface="EB Garamond"/>
                <a:cs typeface="EB Garamond"/>
                <a:sym typeface="EB Garamond"/>
              </a:rPr>
              <a:t>The Finite Element Analysis (FEA) performed in SolidWorks provided valuable insights into the structural performance of the Autonomous Quick Jack under operational loads. For Case 1, the maximum stress observed was 142.7 MPa, which is well within the yield strength of mild steel (approximately 250 MPa), ensuring safe operation under the specified load conditions. The maximum displacement was recorded at 0.512 mm, indicating minimal deformation. In Case 2, where the load application was altered to a nut-and-bolt connection, the maximum stress was reduced to 95.3 MPa, demonstrating improved load distribution. Both cases showed a Factor of Safety (FOS) above 1.75, confirming the robustness of the design. These results validate the mechanical integrity of the AQJ's components and material selection under real-world conditions.</a:t>
            </a:r>
            <a:endParaRPr sz="2000">
              <a:latin typeface="EB Garamond"/>
              <a:ea typeface="EB Garamond"/>
              <a:cs typeface="EB Garamond"/>
              <a:sym typeface="EB Garamon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2"/>
          <p:cNvSpPr txBox="1">
            <a:spLocks noGrp="1"/>
          </p:cNvSpPr>
          <p:nvPr>
            <p:ph type="body" idx="1"/>
          </p:nvPr>
        </p:nvSpPr>
        <p:spPr>
          <a:xfrm>
            <a:off x="387800" y="858750"/>
            <a:ext cx="8520600" cy="3339000"/>
          </a:xfrm>
          <a:prstGeom prst="rect">
            <a:avLst/>
          </a:prstGeom>
        </p:spPr>
        <p:txBody>
          <a:bodyPr spcFirstLastPara="1" wrap="square" lIns="91425" tIns="91425" rIns="91425" bIns="91425" anchor="t" anchorCtr="0">
            <a:normAutofit/>
          </a:bodyPr>
          <a:lstStyle/>
          <a:p>
            <a:pPr marL="0" lvl="0" indent="0" algn="just" rtl="0">
              <a:lnSpc>
                <a:spcPct val="150000"/>
              </a:lnSpc>
              <a:spcBef>
                <a:spcPts val="600"/>
              </a:spcBef>
              <a:spcAft>
                <a:spcPts val="0"/>
              </a:spcAft>
              <a:buNone/>
            </a:pPr>
            <a:endParaRPr sz="1400">
              <a:solidFill>
                <a:srgbClr val="000000"/>
              </a:solidFill>
              <a:latin typeface="EB Garamond"/>
              <a:ea typeface="EB Garamond"/>
              <a:cs typeface="EB Garamond"/>
              <a:sym typeface="EB Garamond"/>
            </a:endParaRPr>
          </a:p>
          <a:p>
            <a:pPr marL="0" lvl="0" indent="0" algn="just" rtl="0">
              <a:lnSpc>
                <a:spcPct val="150000"/>
              </a:lnSpc>
              <a:spcBef>
                <a:spcPts val="600"/>
              </a:spcBef>
              <a:spcAft>
                <a:spcPts val="0"/>
              </a:spcAft>
              <a:buNone/>
            </a:pPr>
            <a:r>
              <a:rPr lang="en-GB" sz="1700">
                <a:solidFill>
                  <a:srgbClr val="000000"/>
                </a:solidFill>
                <a:latin typeface="EB Garamond"/>
                <a:ea typeface="EB Garamond"/>
                <a:cs typeface="EB Garamond"/>
                <a:sym typeface="EB Garamond"/>
              </a:rPr>
              <a:t>MATLAB Multi-Domain Analysis Conclusion:</a:t>
            </a:r>
            <a:endParaRPr sz="1700">
              <a:solidFill>
                <a:srgbClr val="000000"/>
              </a:solidFill>
              <a:latin typeface="EB Garamond"/>
              <a:ea typeface="EB Garamond"/>
              <a:cs typeface="EB Garamond"/>
              <a:sym typeface="EB Garamond"/>
            </a:endParaRPr>
          </a:p>
          <a:p>
            <a:pPr marL="0" lvl="0" indent="0" algn="just" rtl="0">
              <a:lnSpc>
                <a:spcPct val="150000"/>
              </a:lnSpc>
              <a:spcBef>
                <a:spcPts val="600"/>
              </a:spcBef>
              <a:spcAft>
                <a:spcPts val="600"/>
              </a:spcAft>
              <a:buNone/>
            </a:pPr>
            <a:r>
              <a:rPr lang="en-GB" sz="1400">
                <a:solidFill>
                  <a:srgbClr val="000000"/>
                </a:solidFill>
                <a:latin typeface="EB Garamond"/>
                <a:ea typeface="EB Garamond"/>
                <a:cs typeface="EB Garamond"/>
                <a:sym typeface="EB Garamond"/>
              </a:rPr>
              <a:t>The MATLAB Simscape Multibody simulation revealed a detailed dynamic performance analysis of the scissor lift mechanism. The position profile exhibited a smooth and asymptotic rise, stabilizing at a maximum height of 175.01 mm, as shown in the SolidWorks model. The velocity and acceleration profiles indicated controlled motion dynamics, with velocity peaking at 0.85 m/s before decaying to zero as the system reached stability. Acceleration rapidly declined from an initial 1.5 m/s² to zero, confirming effective damping. These results illustrate the efficient actuation and stability of the AQJ system, demonstrating its suitability for autonomous lifting applications while maintaining precision and safety.</a:t>
            </a:r>
            <a:endParaRPr sz="1400">
              <a:latin typeface="EB Garamond"/>
              <a:ea typeface="EB Garamond"/>
              <a:cs typeface="EB Garamond"/>
              <a:sym typeface="EB Garamond"/>
            </a:endParaRPr>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1302</Words>
  <Application>Microsoft Macintosh PowerPoint</Application>
  <PresentationFormat>On-screen Show (16:9)</PresentationFormat>
  <Paragraphs>96</Paragraphs>
  <Slides>40</Slides>
  <Notes>40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EB Garamond</vt:lpstr>
      <vt:lpstr>Arial</vt:lpstr>
      <vt:lpstr>EB Garamond Medium</vt:lpstr>
      <vt:lpstr>Calibri</vt:lpstr>
      <vt:lpstr>Times New Roman</vt:lpstr>
      <vt:lpstr>Roboto</vt:lpstr>
      <vt:lpstr>Geometric</vt:lpstr>
      <vt:lpstr>PowerPoint Presentation</vt:lpstr>
      <vt:lpstr>Introduction</vt:lpstr>
      <vt:lpstr>Project Objectives </vt:lpstr>
      <vt:lpstr>State of the Art </vt:lpstr>
      <vt:lpstr> Starting Status </vt:lpstr>
      <vt:lpstr>3D Modelling (SolidWorks)</vt:lpstr>
      <vt:lpstr>AQJ Isometric View</vt:lpstr>
      <vt:lpstr>Dimensions</vt:lpstr>
      <vt:lpstr>AQJ Static Condition Height Measurement (117.19 mm) </vt:lpstr>
      <vt:lpstr>AQJ Lifting Condition Height Measurement (175.01 mm)</vt:lpstr>
      <vt:lpstr>AQJ Wheelbase Measurement (240 mm) </vt:lpstr>
      <vt:lpstr> AQJ Track Width Measurement (228 mm) </vt:lpstr>
      <vt:lpstr>Finite Element Analysis (SolidWorks)</vt:lpstr>
      <vt:lpstr>Analysis Case 1</vt:lpstr>
      <vt:lpstr>PowerPoint Presentation</vt:lpstr>
      <vt:lpstr>PowerPoint Presentation</vt:lpstr>
      <vt:lpstr>PowerPoint Presentation</vt:lpstr>
      <vt:lpstr>Post Processing </vt:lpstr>
      <vt:lpstr>PowerPoint Presentation</vt:lpstr>
      <vt:lpstr>PowerPoint Presentation</vt:lpstr>
      <vt:lpstr>PowerPoint Presentation</vt:lpstr>
      <vt:lpstr>Analysis Case 2 </vt:lpstr>
      <vt:lpstr>PowerPoint Presentation</vt:lpstr>
      <vt:lpstr>PowerPoint Presentation</vt:lpstr>
      <vt:lpstr>Post Processing </vt:lpstr>
      <vt:lpstr>PowerPoint Presentation</vt:lpstr>
      <vt:lpstr>PowerPoint Presentation</vt:lpstr>
      <vt:lpstr>PowerPoint Presentation</vt:lpstr>
      <vt:lpstr>PowerPoint Presentation</vt:lpstr>
      <vt:lpstr>Multi Domain Modelling and Simulation </vt:lpstr>
      <vt:lpstr>PowerPoint Presentation</vt:lpstr>
      <vt:lpstr>Link 2 Multibody </vt:lpstr>
      <vt:lpstr>PowerPoint Presentation</vt:lpstr>
      <vt:lpstr>AQJ Multibody Model </vt:lpstr>
      <vt:lpstr>Simulation Results</vt:lpstr>
      <vt:lpstr>PowerPoint Presentation</vt:lpstr>
      <vt:lpstr>PowerPoint Presentation</vt:lpstr>
      <vt:lpstr>PowerPoint Presentation</vt:lpstr>
      <vt:lpstr>Conclusions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HARSHAL RAJESH KOKITKAR</cp:lastModifiedBy>
  <cp:revision>1</cp:revision>
  <dcterms:modified xsi:type="dcterms:W3CDTF">2026-09-23T09:01:15Z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d0b24d-6422-44b0-b3de-abb3a9e8c81a_Enabled">
    <vt:lpwstr>true</vt:lpwstr>
  </property>
  <property fmtid="{D5CDD505-2E9C-101B-9397-08002B2CF9AE}" pid="3" name="MSIP_Label_2ad0b24d-6422-44b0-b3de-abb3a9e8c81a_SetDate">
    <vt:lpwstr>2026-09-23T09:01:15Z</vt:lpwstr>
  </property>
  <property fmtid="{D5CDD505-2E9C-101B-9397-08002B2CF9AE}" pid="4" name="MSIP_Label_2ad0b24d-6422-44b0-b3de-abb3a9e8c81a_Method">
    <vt:lpwstr>Standard</vt:lpwstr>
  </property>
  <property fmtid="{D5CDD505-2E9C-101B-9397-08002B2CF9AE}" pid="5" name="MSIP_Label_2ad0b24d-6422-44b0-b3de-abb3a9e8c81a_Name">
    <vt:lpwstr>defa4170-0d19-0005-0004-bc88714345d2</vt:lpwstr>
  </property>
  <property fmtid="{D5CDD505-2E9C-101B-9397-08002B2CF9AE}" pid="6" name="MSIP_Label_2ad0b24d-6422-44b0-b3de-abb3a9e8c81a_SiteId">
    <vt:lpwstr>2fcfe26a-bb62-46b0-b1e3-28f9da0c45fd</vt:lpwstr>
  </property>
  <property fmtid="{D5CDD505-2E9C-101B-9397-08002B2CF9AE}" pid="7" name="MSIP_Label_2ad0b24d-6422-44b0-b3de-abb3a9e8c81a_ActionId">
    <vt:lpwstr>2fedaf7a-b7f8-4f32-93bd-8e10eb5f1c18</vt:lpwstr>
  </property>
  <property fmtid="{D5CDD505-2E9C-101B-9397-08002B2CF9AE}" pid="8" name="MSIP_Label_2ad0b24d-6422-44b0-b3de-abb3a9e8c81a_ContentBits">
    <vt:lpwstr>0</vt:lpwstr>
  </property>
  <property fmtid="{D5CDD505-2E9C-101B-9397-08002B2CF9AE}" pid="9" name="MSIP_Label_2ad0b24d-6422-44b0-b3de-abb3a9e8c81a_Tag">
    <vt:lpwstr>50, 3, 0, 1</vt:lpwstr>
  </property>
</Properties>
</file>